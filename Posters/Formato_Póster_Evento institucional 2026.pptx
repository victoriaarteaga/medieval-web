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8800425" cy="503999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00"/>
    <a:srgbClr val="008080"/>
    <a:srgbClr val="00CC99"/>
    <a:srgbClr val="EFFFFF"/>
    <a:srgbClr val="C9FFFF"/>
    <a:srgbClr val="FF5B5B"/>
    <a:srgbClr val="00FA00"/>
    <a:srgbClr val="00CC00"/>
    <a:srgbClr val="A4D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4" d="100"/>
          <a:sy n="14" d="100"/>
        </p:scale>
        <p:origin x="360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248329"/>
            <a:ext cx="24480361" cy="17546649"/>
          </a:xfrm>
        </p:spPr>
        <p:txBody>
          <a:bodyPr anchor="b"/>
          <a:lstStyle>
            <a:lvl1pPr algn="ctr">
              <a:defRPr sz="18898"/>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600053" y="26471644"/>
            <a:ext cx="21600319" cy="12168318"/>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24/03/2026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689820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24/03/2026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72750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65030" y="12565002"/>
            <a:ext cx="24840367" cy="20964976"/>
          </a:xfrm>
        </p:spPr>
        <p:txBody>
          <a:bodyPr anchor="b"/>
          <a:lstStyle>
            <a:lvl1pPr>
              <a:defRPr sz="18898"/>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65030" y="33728315"/>
            <a:ext cx="24840367" cy="11024985"/>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746F2E5-429B-4F16-9E42-EE6AF44C5AF0}" type="datetimeFigureOut">
              <a:rPr lang="es-MX" smtClean="0"/>
              <a:t>24/03/2026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986705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80029" y="13416653"/>
            <a:ext cx="12240181" cy="319783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4580215" y="13416653"/>
            <a:ext cx="12240181" cy="319783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746F2E5-429B-4F16-9E42-EE6AF44C5AF0}" type="datetimeFigureOut">
              <a:rPr lang="es-MX" smtClean="0"/>
              <a:t>24/03/2026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807976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983780" y="2683342"/>
            <a:ext cx="24840367" cy="97416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3784" y="12354992"/>
            <a:ext cx="12183928"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4" name="Content Placeholder 3"/>
          <p:cNvSpPr>
            <a:spLocks noGrp="1"/>
          </p:cNvSpPr>
          <p:nvPr>
            <p:ph sz="half" idx="2"/>
          </p:nvPr>
        </p:nvSpPr>
        <p:spPr>
          <a:xfrm>
            <a:off x="1983784" y="18409982"/>
            <a:ext cx="12183928" cy="2707831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4580217" y="12354992"/>
            <a:ext cx="12243932"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6" name="Content Placeholder 5"/>
          <p:cNvSpPr>
            <a:spLocks noGrp="1"/>
          </p:cNvSpPr>
          <p:nvPr>
            <p:ph sz="quarter" idx="4"/>
          </p:nvPr>
        </p:nvSpPr>
        <p:spPr>
          <a:xfrm>
            <a:off x="14580217" y="18409982"/>
            <a:ext cx="12243932" cy="2707831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746F2E5-429B-4F16-9E42-EE6AF44C5AF0}" type="datetimeFigureOut">
              <a:rPr lang="es-MX" smtClean="0"/>
              <a:t>24/03/2026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90850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746F2E5-429B-4F16-9E42-EE6AF44C5AF0}" type="datetimeFigureOut">
              <a:rPr lang="es-MX" smtClean="0"/>
              <a:t>24/03/2026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223878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46F2E5-429B-4F16-9E42-EE6AF44C5AF0}" type="datetimeFigureOut">
              <a:rPr lang="es-MX" smtClean="0"/>
              <a:t>24/03/2026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53433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243932" y="7256671"/>
            <a:ext cx="14580215" cy="35816631"/>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746F2E5-429B-4F16-9E42-EE6AF44C5AF0}" type="datetimeFigureOut">
              <a:rPr lang="es-MX" smtClean="0"/>
              <a:t>24/03/2026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37999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243932" y="7256671"/>
            <a:ext cx="14580215" cy="35816631"/>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746F2E5-429B-4F16-9E42-EE6AF44C5AF0}" type="datetimeFigureOut">
              <a:rPr lang="es-MX" smtClean="0"/>
              <a:t>24/03/2026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56455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24/03/2026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957066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683331"/>
            <a:ext cx="6210092" cy="4271162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80031" y="2683331"/>
            <a:ext cx="18270270" cy="4271162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24/03/2026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07044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683342"/>
            <a:ext cx="24840367" cy="974166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0029" y="13416653"/>
            <a:ext cx="24840367" cy="3197830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980029" y="46713298"/>
            <a:ext cx="6480096" cy="2683331"/>
          </a:xfrm>
          <a:prstGeom prst="rect">
            <a:avLst/>
          </a:prstGeom>
        </p:spPr>
        <p:txBody>
          <a:bodyPr vert="horz" lIns="91440" tIns="45720" rIns="91440" bIns="45720" rtlCol="0" anchor="ctr"/>
          <a:lstStyle>
            <a:lvl1pPr algn="l">
              <a:defRPr sz="3780">
                <a:solidFill>
                  <a:schemeClr val="tx1">
                    <a:tint val="75000"/>
                  </a:schemeClr>
                </a:solidFill>
              </a:defRPr>
            </a:lvl1pPr>
          </a:lstStyle>
          <a:p>
            <a:fld id="{1746F2E5-429B-4F16-9E42-EE6AF44C5AF0}" type="datetimeFigureOut">
              <a:rPr lang="es-MX" smtClean="0"/>
              <a:t>24/03/2026</a:t>
            </a:fld>
            <a:endParaRPr lang="es-MX"/>
          </a:p>
        </p:txBody>
      </p:sp>
      <p:sp>
        <p:nvSpPr>
          <p:cNvPr id="5" name="Footer Placeholder 4"/>
          <p:cNvSpPr>
            <a:spLocks noGrp="1"/>
          </p:cNvSpPr>
          <p:nvPr>
            <p:ph type="ftr" sz="quarter" idx="3"/>
          </p:nvPr>
        </p:nvSpPr>
        <p:spPr>
          <a:xfrm>
            <a:off x="9540141" y="46713298"/>
            <a:ext cx="9720143" cy="2683331"/>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20340300" y="46713298"/>
            <a:ext cx="6480096" cy="2683331"/>
          </a:xfrm>
          <a:prstGeom prst="rect">
            <a:avLst/>
          </a:prstGeom>
        </p:spPr>
        <p:txBody>
          <a:bodyPr vert="horz" lIns="91440" tIns="45720" rIns="91440" bIns="45720" rtlCol="0" anchor="ctr"/>
          <a:lstStyle>
            <a:lvl1pPr algn="r">
              <a:defRPr sz="3780">
                <a:solidFill>
                  <a:schemeClr val="tx1">
                    <a:tint val="75000"/>
                  </a:schemeClr>
                </a:solidFill>
              </a:defRPr>
            </a:lvl1pPr>
          </a:lstStyle>
          <a:p>
            <a:fld id="{54CFCCDE-60FC-4FB7-A81D-F9755E057F0C}" type="slidenum">
              <a:rPr lang="es-MX" smtClean="0"/>
              <a:t>‹Nº›</a:t>
            </a:fld>
            <a:endParaRPr lang="es-MX"/>
          </a:p>
        </p:txBody>
      </p:sp>
    </p:spTree>
    <p:extLst>
      <p:ext uri="{BB962C8B-B14F-4D97-AF65-F5344CB8AC3E}">
        <p14:creationId xmlns:p14="http://schemas.microsoft.com/office/powerpoint/2010/main" val="37355770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ángulo 39">
            <a:extLst>
              <a:ext uri="{FF2B5EF4-FFF2-40B4-BE49-F238E27FC236}">
                <a16:creationId xmlns:a16="http://schemas.microsoft.com/office/drawing/2014/main" id="{4B6E3874-6B06-BE5B-0FB4-5DC1FA48E93C}"/>
              </a:ext>
            </a:extLst>
          </p:cNvPr>
          <p:cNvSpPr/>
          <p:nvPr/>
        </p:nvSpPr>
        <p:spPr>
          <a:xfrm>
            <a:off x="1121748" y="38531856"/>
            <a:ext cx="26339098" cy="602680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30" name="Rectángulo 29">
            <a:extLst>
              <a:ext uri="{FF2B5EF4-FFF2-40B4-BE49-F238E27FC236}">
                <a16:creationId xmlns:a16="http://schemas.microsoft.com/office/drawing/2014/main" id="{E5AA261F-6FE7-8DA5-D533-C59A76086963}"/>
              </a:ext>
            </a:extLst>
          </p:cNvPr>
          <p:cNvSpPr/>
          <p:nvPr/>
        </p:nvSpPr>
        <p:spPr>
          <a:xfrm>
            <a:off x="14870742" y="31710730"/>
            <a:ext cx="12590104" cy="651467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28" name="Rectángulo 27">
            <a:extLst>
              <a:ext uri="{FF2B5EF4-FFF2-40B4-BE49-F238E27FC236}">
                <a16:creationId xmlns:a16="http://schemas.microsoft.com/office/drawing/2014/main" id="{4D4183C7-2A21-49EF-66EB-D204048D4450}"/>
              </a:ext>
            </a:extLst>
          </p:cNvPr>
          <p:cNvSpPr/>
          <p:nvPr/>
        </p:nvSpPr>
        <p:spPr>
          <a:xfrm>
            <a:off x="1122235" y="8552378"/>
            <a:ext cx="26339587" cy="539644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26" name="Rectángulo 25">
            <a:extLst>
              <a:ext uri="{FF2B5EF4-FFF2-40B4-BE49-F238E27FC236}">
                <a16:creationId xmlns:a16="http://schemas.microsoft.com/office/drawing/2014/main" id="{99BD099B-AEB7-578F-FFA2-D8AA0FFA9702}"/>
              </a:ext>
            </a:extLst>
          </p:cNvPr>
          <p:cNvSpPr/>
          <p:nvPr/>
        </p:nvSpPr>
        <p:spPr>
          <a:xfrm>
            <a:off x="1122234" y="14247495"/>
            <a:ext cx="26339587" cy="567071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11" name="Rectángulo 10">
            <a:extLst>
              <a:ext uri="{FF2B5EF4-FFF2-40B4-BE49-F238E27FC236}">
                <a16:creationId xmlns:a16="http://schemas.microsoft.com/office/drawing/2014/main" id="{156F1E15-3993-E3CB-7571-E515D7EDF796}"/>
              </a:ext>
            </a:extLst>
          </p:cNvPr>
          <p:cNvSpPr/>
          <p:nvPr/>
        </p:nvSpPr>
        <p:spPr>
          <a:xfrm>
            <a:off x="13881" y="2580584"/>
            <a:ext cx="28800425" cy="8013919"/>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9" name="CuadroTexto 8">
            <a:extLst>
              <a:ext uri="{FF2B5EF4-FFF2-40B4-BE49-F238E27FC236}">
                <a16:creationId xmlns:a16="http://schemas.microsoft.com/office/drawing/2014/main" id="{9F3794F8-EA09-48F3-88BD-25E701771468}"/>
              </a:ext>
            </a:extLst>
          </p:cNvPr>
          <p:cNvSpPr txBox="1"/>
          <p:nvPr/>
        </p:nvSpPr>
        <p:spPr>
          <a:xfrm>
            <a:off x="10670065" y="554709"/>
            <a:ext cx="16676317" cy="2823786"/>
          </a:xfrm>
          <a:prstGeom prst="rect">
            <a:avLst/>
          </a:prstGeom>
          <a:noFill/>
        </p:spPr>
        <p:txBody>
          <a:bodyPr wrap="square" rtlCol="0">
            <a:spAutoFit/>
          </a:bodyPr>
          <a:lstStyle/>
          <a:p>
            <a:pPr algn="ctr">
              <a:lnSpc>
                <a:spcPct val="107000"/>
              </a:lnSpc>
              <a:spcAft>
                <a:spcPts val="711"/>
              </a:spcAft>
            </a:pPr>
            <a:r>
              <a:rPr lang="es-MX" sz="4200" b="1" dirty="0"/>
              <a:t>MediEval: Diseño, desarrollo y validación de un aplicativo basado en inteligencia artificial para la evaluación objetiva, estandarizada y formativa de competencias clínicas en estudiantes de medicina mediante simulación clínica</a:t>
            </a:r>
            <a:endParaRPr lang="en-US" sz="4200" b="1" dirty="0">
              <a:latin typeface="Segoe UI" panose="020B0502040204020203" pitchFamily="34" charset="0"/>
              <a:ea typeface="Calibri" panose="020F0502020204030204" pitchFamily="34" charset="0"/>
              <a:cs typeface="Segoe UI" panose="020B0502040204020203" pitchFamily="34" charset="0"/>
            </a:endParaRPr>
          </a:p>
        </p:txBody>
      </p:sp>
      <p:sp>
        <p:nvSpPr>
          <p:cNvPr id="19" name="CuadroTexto 18">
            <a:extLst>
              <a:ext uri="{FF2B5EF4-FFF2-40B4-BE49-F238E27FC236}">
                <a16:creationId xmlns:a16="http://schemas.microsoft.com/office/drawing/2014/main" id="{57944E43-EF13-8F5A-BC13-C271CFFDBD74}"/>
              </a:ext>
            </a:extLst>
          </p:cNvPr>
          <p:cNvSpPr txBox="1"/>
          <p:nvPr/>
        </p:nvSpPr>
        <p:spPr>
          <a:xfrm>
            <a:off x="2517808" y="8903928"/>
            <a:ext cx="24794284" cy="4893647"/>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Introducción: </a:t>
            </a:r>
          </a:p>
          <a:p>
            <a:pPr algn="just"/>
            <a:r>
              <a:rPr lang="es-MX" sz="3600" dirty="0"/>
              <a:t>La evaluación médica actual requiere objetividad y trazabilidad, pero métodos como el ECOE enfrentan desafíos por la variabilidad interevaluador y la carga administrativa. En Colombia, la falta de herramientas tecnológicas validadas limita la retroalimentación oportuna y el análisis del desempeño necesario para la mejora curricular.</a:t>
            </a:r>
          </a:p>
          <a:p>
            <a:pPr algn="just"/>
            <a:endParaRPr lang="es-MX" sz="2000" dirty="0"/>
          </a:p>
          <a:p>
            <a:pPr algn="just"/>
            <a:r>
              <a:rPr lang="es-MX" sz="3600" dirty="0"/>
              <a:t>MediEval surge como una solución basada en Inteligencia Artificial para estandarizar la evaluación de competencias clínicas. Fundamentado en la Pirámide de Miller, el sistema emplea algoritmos de IA para el análisis de datos y retroalimentación adaptativa. Mediante una metodología de cinco fases bajo estándares ISO 25010, el proyecto busca optimizar recursos institucionales, cerrar brechas científicas y fortalecer la formación de talento humano calificado.</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41" name="CuadroTexto 40">
            <a:extLst>
              <a:ext uri="{FF2B5EF4-FFF2-40B4-BE49-F238E27FC236}">
                <a16:creationId xmlns:a16="http://schemas.microsoft.com/office/drawing/2014/main" id="{AD14D626-FCF0-B502-C036-ED6E1153B002}"/>
              </a:ext>
            </a:extLst>
          </p:cNvPr>
          <p:cNvSpPr txBox="1"/>
          <p:nvPr/>
        </p:nvSpPr>
        <p:spPr>
          <a:xfrm>
            <a:off x="16383203" y="32100827"/>
            <a:ext cx="10719575" cy="5754973"/>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Conclusiones</a:t>
            </a:r>
            <a:r>
              <a:rPr lang="en-US" sz="4797"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a:t>
            </a:r>
          </a:p>
          <a:p>
            <a:pPr marL="457200" indent="-457200" algn="just">
              <a:buFont typeface="Arial" panose="020B0604020202020204" pitchFamily="34" charset="0"/>
              <a:buChar char="•"/>
            </a:pPr>
            <a:r>
              <a:rPr lang="es-MX" sz="3200" b="1" dirty="0"/>
              <a:t>Objetividad:</a:t>
            </a:r>
            <a:r>
              <a:rPr lang="es-MX" sz="3200" dirty="0"/>
              <a:t> MediEval reduce la subjetividad y la variabilidad interevaluador en la formación médica, garantizando evaluaciones clínicas estandarizadas y equitativas mediante el uso de IA.</a:t>
            </a:r>
          </a:p>
          <a:p>
            <a:pPr marL="457200" indent="-457200" algn="just">
              <a:buFont typeface="Arial" panose="020B0604020202020204" pitchFamily="34" charset="0"/>
              <a:buChar char="•"/>
            </a:pPr>
            <a:r>
              <a:rPr lang="es-MX" sz="3200" b="1" dirty="0"/>
              <a:t>Eficiencia:</a:t>
            </a:r>
            <a:r>
              <a:rPr lang="es-MX" sz="3200" dirty="0"/>
              <a:t> La automatización de la retroalimentación y el análisis de datos optimizan la carga administrativa, permitiendo una mejora continua del plan de estudios basado en evidencias.</a:t>
            </a:r>
          </a:p>
          <a:p>
            <a:pPr marL="457200" indent="-457200" algn="just">
              <a:buFont typeface="Arial" panose="020B0604020202020204" pitchFamily="34" charset="0"/>
              <a:buChar char="•"/>
            </a:pPr>
            <a:r>
              <a:rPr lang="es-MX" sz="3200" b="1" dirty="0"/>
              <a:t>Calidad Técnica:</a:t>
            </a:r>
            <a:r>
              <a:rPr lang="es-MX" sz="3200" dirty="0"/>
              <a:t> El desarrollo bajo estándares ISO 25010 asegura una herramienta robusta y escalable.</a:t>
            </a:r>
          </a:p>
        </p:txBody>
      </p:sp>
      <p:sp>
        <p:nvSpPr>
          <p:cNvPr id="44" name="CuadroTexto 43">
            <a:extLst>
              <a:ext uri="{FF2B5EF4-FFF2-40B4-BE49-F238E27FC236}">
                <a16:creationId xmlns:a16="http://schemas.microsoft.com/office/drawing/2014/main" id="{D690BFA5-CD05-C55C-0A79-AB4644723578}"/>
              </a:ext>
            </a:extLst>
          </p:cNvPr>
          <p:cNvSpPr txBox="1"/>
          <p:nvPr/>
        </p:nvSpPr>
        <p:spPr>
          <a:xfrm>
            <a:off x="2805851" y="38998870"/>
            <a:ext cx="24043871" cy="5016758"/>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Referencias: </a:t>
            </a:r>
          </a:p>
          <a:p>
            <a:pPr marL="571500" indent="-571500" algn="just">
              <a:buFont typeface="Arial" panose="020B0604020202020204" pitchFamily="34" charset="0"/>
              <a:buChar char="•"/>
            </a:pPr>
            <a:r>
              <a:rPr lang="en-US" sz="4000" dirty="0"/>
              <a:t>Duran-Espinoza, C., et al. (2025). Artificial intelligencebased assessment of feedback quality predicts learner improvement in medical education. Journal of Surgical Education. </a:t>
            </a:r>
          </a:p>
          <a:p>
            <a:pPr marL="571500" indent="-571500" algn="just">
              <a:buFont typeface="Arial" panose="020B0604020202020204" pitchFamily="34" charset="0"/>
              <a:buChar char="•"/>
            </a:pPr>
            <a:r>
              <a:rPr lang="en-US" sz="4000" dirty="0"/>
              <a:t>Díaz-</a:t>
            </a:r>
            <a:r>
              <a:rPr lang="en-US" sz="4000" dirty="0" err="1"/>
              <a:t>Guío</a:t>
            </a:r>
            <a:r>
              <a:rPr lang="en-US" sz="4000" dirty="0"/>
              <a:t>, J. A., et al. (2024). The role of artificial intelligence in education and perioperative care. Colombian Journal of Anesthesiology, 52(1), e001.</a:t>
            </a:r>
          </a:p>
          <a:p>
            <a:pPr marL="571500" indent="-571500" algn="just">
              <a:buFont typeface="Arial" panose="020B0604020202020204" pitchFamily="34" charset="0"/>
              <a:buChar char="•"/>
            </a:pPr>
            <a:r>
              <a:rPr lang="en-US" sz="4000" dirty="0"/>
              <a:t>HealthySimulation. (2025). NeoOSCE: A next-generation method for AI-enhanced clinical skills assessment. </a:t>
            </a:r>
          </a:p>
          <a:p>
            <a:pPr marL="571500" indent="-571500" algn="just">
              <a:buFont typeface="Arial" panose="020B0604020202020204" pitchFamily="34" charset="0"/>
              <a:buChar char="•"/>
            </a:pPr>
            <a:r>
              <a:rPr lang="en-US" sz="4000" dirty="0"/>
              <a:t>Jang, H., et al. (2025). The validity of generative artificial intelligence in evaluating medical students' performance in OSCE. JMIR Formative Research, 9, e79465.</a:t>
            </a:r>
          </a:p>
        </p:txBody>
      </p:sp>
      <p:sp>
        <p:nvSpPr>
          <p:cNvPr id="15" name="CuadroTexto 14">
            <a:extLst>
              <a:ext uri="{FF2B5EF4-FFF2-40B4-BE49-F238E27FC236}">
                <a16:creationId xmlns:a16="http://schemas.microsoft.com/office/drawing/2014/main" id="{EA3D2CFA-D1CF-1459-FBCC-061FB575312C}"/>
              </a:ext>
            </a:extLst>
          </p:cNvPr>
          <p:cNvSpPr txBox="1"/>
          <p:nvPr/>
        </p:nvSpPr>
        <p:spPr>
          <a:xfrm>
            <a:off x="10514495" y="6596041"/>
            <a:ext cx="16987458" cy="1076898"/>
          </a:xfrm>
          <a:prstGeom prst="rect">
            <a:avLst/>
          </a:prstGeom>
          <a:noFill/>
        </p:spPr>
        <p:txBody>
          <a:bodyPr wrap="square" rtlCol="0">
            <a:spAutoFit/>
          </a:bodyPr>
          <a:lstStyle/>
          <a:p>
            <a:pPr algn="ctr"/>
            <a:r>
              <a:rPr lang="en-US" sz="3198"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Facultad</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de Ingeniería /School of Dentistry, Universidad Cooperativa de Colombia - Pasto.</a:t>
            </a:r>
          </a:p>
          <a:p>
            <a:pPr algn="ctr"/>
            <a:r>
              <a:rPr lang="en-US" sz="3198"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Profesión</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a:t>
            </a:r>
            <a:r>
              <a:rPr lang="en-US" sz="3198"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Programa</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de </a:t>
            </a:r>
            <a:r>
              <a:rPr lang="en-US" sz="3198"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ingeniería</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de Software, </a:t>
            </a:r>
            <a:r>
              <a:rPr lang="en-US" sz="320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Arteaga Fajardo Daniel Fernando</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a:t>
            </a:r>
          </a:p>
        </p:txBody>
      </p:sp>
      <p:sp>
        <p:nvSpPr>
          <p:cNvPr id="2" name="Rounded Rectangle 12">
            <a:extLst>
              <a:ext uri="{FF2B5EF4-FFF2-40B4-BE49-F238E27FC236}">
                <a16:creationId xmlns:a16="http://schemas.microsoft.com/office/drawing/2014/main" id="{5B9FEE6C-AB01-41E5-29F1-0543280A1AC1}"/>
              </a:ext>
            </a:extLst>
          </p:cNvPr>
          <p:cNvSpPr/>
          <p:nvPr/>
        </p:nvSpPr>
        <p:spPr>
          <a:xfrm>
            <a:off x="1336142" y="9088174"/>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01</a:t>
            </a:r>
          </a:p>
        </p:txBody>
      </p:sp>
      <p:sp>
        <p:nvSpPr>
          <p:cNvPr id="4" name="Rounded Rectangle 12">
            <a:extLst>
              <a:ext uri="{FF2B5EF4-FFF2-40B4-BE49-F238E27FC236}">
                <a16:creationId xmlns:a16="http://schemas.microsoft.com/office/drawing/2014/main" id="{9E85F223-A06F-CC12-8B41-9EAEE062C634}"/>
              </a:ext>
            </a:extLst>
          </p:cNvPr>
          <p:cNvSpPr/>
          <p:nvPr/>
        </p:nvSpPr>
        <p:spPr>
          <a:xfrm>
            <a:off x="1336143" y="14641394"/>
            <a:ext cx="1073441"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02</a:t>
            </a:r>
          </a:p>
        </p:txBody>
      </p:sp>
      <p:sp>
        <p:nvSpPr>
          <p:cNvPr id="5" name="Rounded Rectangle 12">
            <a:extLst>
              <a:ext uri="{FF2B5EF4-FFF2-40B4-BE49-F238E27FC236}">
                <a16:creationId xmlns:a16="http://schemas.microsoft.com/office/drawing/2014/main" id="{041FD9BB-AF7A-4FED-CDAD-A06A053E7561}"/>
              </a:ext>
            </a:extLst>
          </p:cNvPr>
          <p:cNvSpPr/>
          <p:nvPr/>
        </p:nvSpPr>
        <p:spPr>
          <a:xfrm>
            <a:off x="1455339" y="26270221"/>
            <a:ext cx="1073441"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04</a:t>
            </a:r>
          </a:p>
        </p:txBody>
      </p:sp>
      <p:sp>
        <p:nvSpPr>
          <p:cNvPr id="7" name="Rounded Rectangle 12">
            <a:extLst>
              <a:ext uri="{FF2B5EF4-FFF2-40B4-BE49-F238E27FC236}">
                <a16:creationId xmlns:a16="http://schemas.microsoft.com/office/drawing/2014/main" id="{67B10082-1A0C-7903-C3C5-B194A7ED65E6}"/>
              </a:ext>
            </a:extLst>
          </p:cNvPr>
          <p:cNvSpPr/>
          <p:nvPr/>
        </p:nvSpPr>
        <p:spPr>
          <a:xfrm>
            <a:off x="15192505" y="32247116"/>
            <a:ext cx="1073441"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06</a:t>
            </a:r>
          </a:p>
        </p:txBody>
      </p:sp>
      <p:sp>
        <p:nvSpPr>
          <p:cNvPr id="10" name="Rounded Rectangle 12">
            <a:extLst>
              <a:ext uri="{FF2B5EF4-FFF2-40B4-BE49-F238E27FC236}">
                <a16:creationId xmlns:a16="http://schemas.microsoft.com/office/drawing/2014/main" id="{407A8EA4-9506-8EDF-2EA3-CC8705BE6101}"/>
              </a:ext>
            </a:extLst>
          </p:cNvPr>
          <p:cNvSpPr/>
          <p:nvPr/>
        </p:nvSpPr>
        <p:spPr>
          <a:xfrm>
            <a:off x="1596066" y="39174639"/>
            <a:ext cx="975856"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07</a:t>
            </a:r>
          </a:p>
        </p:txBody>
      </p:sp>
      <p:sp>
        <p:nvSpPr>
          <p:cNvPr id="25" name="Freeform 41">
            <a:extLst>
              <a:ext uri="{FF2B5EF4-FFF2-40B4-BE49-F238E27FC236}">
                <a16:creationId xmlns:a16="http://schemas.microsoft.com/office/drawing/2014/main" id="{D6F07DEB-1D51-8501-01AF-841853538CA4}"/>
              </a:ext>
            </a:extLst>
          </p:cNvPr>
          <p:cNvSpPr>
            <a:spLocks/>
          </p:cNvSpPr>
          <p:nvPr/>
        </p:nvSpPr>
        <p:spPr bwMode="auto">
          <a:xfrm>
            <a:off x="15160978" y="19239885"/>
            <a:ext cx="388226" cy="495021"/>
          </a:xfrm>
          <a:custGeom>
            <a:avLst/>
            <a:gdLst>
              <a:gd name="T0" fmla="*/ 839 w 1485"/>
              <a:gd name="T1" fmla="*/ 4 h 1778"/>
              <a:gd name="T2" fmla="*/ 1008 w 1485"/>
              <a:gd name="T3" fmla="*/ 29 h 1778"/>
              <a:gd name="T4" fmla="*/ 1151 w 1485"/>
              <a:gd name="T5" fmla="*/ 78 h 1778"/>
              <a:gd name="T6" fmla="*/ 1266 w 1485"/>
              <a:gd name="T7" fmla="*/ 150 h 1778"/>
              <a:gd name="T8" fmla="*/ 1356 w 1485"/>
              <a:gd name="T9" fmla="*/ 244 h 1778"/>
              <a:gd name="T10" fmla="*/ 1423 w 1485"/>
              <a:gd name="T11" fmla="*/ 358 h 1778"/>
              <a:gd name="T12" fmla="*/ 1464 w 1485"/>
              <a:gd name="T13" fmla="*/ 492 h 1778"/>
              <a:gd name="T14" fmla="*/ 1483 w 1485"/>
              <a:gd name="T15" fmla="*/ 646 h 1778"/>
              <a:gd name="T16" fmla="*/ 1481 w 1485"/>
              <a:gd name="T17" fmla="*/ 850 h 1778"/>
              <a:gd name="T18" fmla="*/ 1451 w 1485"/>
              <a:gd name="T19" fmla="*/ 1071 h 1778"/>
              <a:gd name="T20" fmla="*/ 1395 w 1485"/>
              <a:gd name="T21" fmla="*/ 1265 h 1778"/>
              <a:gd name="T22" fmla="*/ 1317 w 1485"/>
              <a:gd name="T23" fmla="*/ 1429 h 1778"/>
              <a:gd name="T24" fmla="*/ 1218 w 1485"/>
              <a:gd name="T25" fmla="*/ 1565 h 1778"/>
              <a:gd name="T26" fmla="*/ 1100 w 1485"/>
              <a:gd name="T27" fmla="*/ 1667 h 1778"/>
              <a:gd name="T28" fmla="*/ 968 w 1485"/>
              <a:gd name="T29" fmla="*/ 1737 h 1778"/>
              <a:gd name="T30" fmla="*/ 821 w 1485"/>
              <a:gd name="T31" fmla="*/ 1775 h 1778"/>
              <a:gd name="T32" fmla="*/ 666 w 1485"/>
              <a:gd name="T33" fmla="*/ 1775 h 1778"/>
              <a:gd name="T34" fmla="*/ 519 w 1485"/>
              <a:gd name="T35" fmla="*/ 1737 h 1778"/>
              <a:gd name="T36" fmla="*/ 387 w 1485"/>
              <a:gd name="T37" fmla="*/ 1667 h 1778"/>
              <a:gd name="T38" fmla="*/ 269 w 1485"/>
              <a:gd name="T39" fmla="*/ 1565 h 1778"/>
              <a:gd name="T40" fmla="*/ 170 w 1485"/>
              <a:gd name="T41" fmla="*/ 1429 h 1778"/>
              <a:gd name="T42" fmla="*/ 92 w 1485"/>
              <a:gd name="T43" fmla="*/ 1265 h 1778"/>
              <a:gd name="T44" fmla="*/ 36 w 1485"/>
              <a:gd name="T45" fmla="*/ 1071 h 1778"/>
              <a:gd name="T46" fmla="*/ 6 w 1485"/>
              <a:gd name="T47" fmla="*/ 850 h 1778"/>
              <a:gd name="T48" fmla="*/ 2 w 1485"/>
              <a:gd name="T49" fmla="*/ 646 h 1778"/>
              <a:gd name="T50" fmla="*/ 23 w 1485"/>
              <a:gd name="T51" fmla="*/ 492 h 1778"/>
              <a:gd name="T52" fmla="*/ 64 w 1485"/>
              <a:gd name="T53" fmla="*/ 358 h 1778"/>
              <a:gd name="T54" fmla="*/ 131 w 1485"/>
              <a:gd name="T55" fmla="*/ 244 h 1778"/>
              <a:gd name="T56" fmla="*/ 221 w 1485"/>
              <a:gd name="T57" fmla="*/ 150 h 1778"/>
              <a:gd name="T58" fmla="*/ 336 w 1485"/>
              <a:gd name="T59" fmla="*/ 78 h 1778"/>
              <a:gd name="T60" fmla="*/ 479 w 1485"/>
              <a:gd name="T61" fmla="*/ 29 h 1778"/>
              <a:gd name="T62" fmla="*/ 648 w 1485"/>
              <a:gd name="T63" fmla="*/ 4 h 1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85" h="1778">
                <a:moveTo>
                  <a:pt x="743" y="0"/>
                </a:moveTo>
                <a:lnTo>
                  <a:pt x="839" y="4"/>
                </a:lnTo>
                <a:lnTo>
                  <a:pt x="927" y="13"/>
                </a:lnTo>
                <a:lnTo>
                  <a:pt x="1008" y="29"/>
                </a:lnTo>
                <a:lnTo>
                  <a:pt x="1084" y="50"/>
                </a:lnTo>
                <a:lnTo>
                  <a:pt x="1151" y="78"/>
                </a:lnTo>
                <a:lnTo>
                  <a:pt x="1213" y="111"/>
                </a:lnTo>
                <a:lnTo>
                  <a:pt x="1266" y="150"/>
                </a:lnTo>
                <a:lnTo>
                  <a:pt x="1315" y="194"/>
                </a:lnTo>
                <a:lnTo>
                  <a:pt x="1356" y="244"/>
                </a:lnTo>
                <a:lnTo>
                  <a:pt x="1393" y="298"/>
                </a:lnTo>
                <a:lnTo>
                  <a:pt x="1423" y="358"/>
                </a:lnTo>
                <a:lnTo>
                  <a:pt x="1446" y="424"/>
                </a:lnTo>
                <a:lnTo>
                  <a:pt x="1464" y="492"/>
                </a:lnTo>
                <a:lnTo>
                  <a:pt x="1476" y="566"/>
                </a:lnTo>
                <a:lnTo>
                  <a:pt x="1483" y="646"/>
                </a:lnTo>
                <a:lnTo>
                  <a:pt x="1485" y="729"/>
                </a:lnTo>
                <a:lnTo>
                  <a:pt x="1481" y="850"/>
                </a:lnTo>
                <a:lnTo>
                  <a:pt x="1469" y="963"/>
                </a:lnTo>
                <a:lnTo>
                  <a:pt x="1451" y="1071"/>
                </a:lnTo>
                <a:lnTo>
                  <a:pt x="1427" y="1171"/>
                </a:lnTo>
                <a:lnTo>
                  <a:pt x="1395" y="1265"/>
                </a:lnTo>
                <a:lnTo>
                  <a:pt x="1360" y="1349"/>
                </a:lnTo>
                <a:lnTo>
                  <a:pt x="1317" y="1429"/>
                </a:lnTo>
                <a:lnTo>
                  <a:pt x="1270" y="1501"/>
                </a:lnTo>
                <a:lnTo>
                  <a:pt x="1218" y="1565"/>
                </a:lnTo>
                <a:lnTo>
                  <a:pt x="1162" y="1619"/>
                </a:lnTo>
                <a:lnTo>
                  <a:pt x="1100" y="1667"/>
                </a:lnTo>
                <a:lnTo>
                  <a:pt x="1037" y="1707"/>
                </a:lnTo>
                <a:lnTo>
                  <a:pt x="968" y="1737"/>
                </a:lnTo>
                <a:lnTo>
                  <a:pt x="895" y="1760"/>
                </a:lnTo>
                <a:lnTo>
                  <a:pt x="821" y="1775"/>
                </a:lnTo>
                <a:lnTo>
                  <a:pt x="743" y="1778"/>
                </a:lnTo>
                <a:lnTo>
                  <a:pt x="666" y="1775"/>
                </a:lnTo>
                <a:lnTo>
                  <a:pt x="592" y="1760"/>
                </a:lnTo>
                <a:lnTo>
                  <a:pt x="519" y="1737"/>
                </a:lnTo>
                <a:lnTo>
                  <a:pt x="450" y="1707"/>
                </a:lnTo>
                <a:lnTo>
                  <a:pt x="387" y="1667"/>
                </a:lnTo>
                <a:lnTo>
                  <a:pt x="325" y="1619"/>
                </a:lnTo>
                <a:lnTo>
                  <a:pt x="269" y="1565"/>
                </a:lnTo>
                <a:lnTo>
                  <a:pt x="217" y="1501"/>
                </a:lnTo>
                <a:lnTo>
                  <a:pt x="170" y="1429"/>
                </a:lnTo>
                <a:lnTo>
                  <a:pt x="127" y="1349"/>
                </a:lnTo>
                <a:lnTo>
                  <a:pt x="92" y="1265"/>
                </a:lnTo>
                <a:lnTo>
                  <a:pt x="60" y="1171"/>
                </a:lnTo>
                <a:lnTo>
                  <a:pt x="36" y="1071"/>
                </a:lnTo>
                <a:lnTo>
                  <a:pt x="18" y="963"/>
                </a:lnTo>
                <a:lnTo>
                  <a:pt x="6" y="850"/>
                </a:lnTo>
                <a:lnTo>
                  <a:pt x="0" y="729"/>
                </a:lnTo>
                <a:lnTo>
                  <a:pt x="2" y="646"/>
                </a:lnTo>
                <a:lnTo>
                  <a:pt x="9" y="566"/>
                </a:lnTo>
                <a:lnTo>
                  <a:pt x="23" y="492"/>
                </a:lnTo>
                <a:lnTo>
                  <a:pt x="41" y="424"/>
                </a:lnTo>
                <a:lnTo>
                  <a:pt x="64" y="358"/>
                </a:lnTo>
                <a:lnTo>
                  <a:pt x="94" y="298"/>
                </a:lnTo>
                <a:lnTo>
                  <a:pt x="131" y="244"/>
                </a:lnTo>
                <a:lnTo>
                  <a:pt x="171" y="194"/>
                </a:lnTo>
                <a:lnTo>
                  <a:pt x="221" y="150"/>
                </a:lnTo>
                <a:lnTo>
                  <a:pt x="274" y="111"/>
                </a:lnTo>
                <a:lnTo>
                  <a:pt x="336" y="78"/>
                </a:lnTo>
                <a:lnTo>
                  <a:pt x="403" y="50"/>
                </a:lnTo>
                <a:lnTo>
                  <a:pt x="479" y="29"/>
                </a:lnTo>
                <a:lnTo>
                  <a:pt x="560" y="13"/>
                </a:lnTo>
                <a:lnTo>
                  <a:pt x="648" y="4"/>
                </a:lnTo>
                <a:lnTo>
                  <a:pt x="743" y="0"/>
                </a:lnTo>
                <a:close/>
              </a:path>
            </a:pathLst>
          </a:custGeom>
          <a:solidFill>
            <a:sysClr val="window" lastClr="FFFFFF"/>
          </a:solidFill>
          <a:ln w="0">
            <a:noFill/>
            <a:prstDash val="solid"/>
            <a:round/>
            <a:headEnd/>
            <a:tailEnd/>
          </a:ln>
        </p:spPr>
        <p:txBody>
          <a:bodyPr vert="horz" wrap="square" lIns="81235" tIns="40618" rIns="81235" bIns="40618" numCol="1" anchor="t" anchorCtr="0" compatLnSpc="1">
            <a:prstTxWarp prst="textNoShape">
              <a:avLst/>
            </a:prstTxWarp>
          </a:bodyPr>
          <a:lstStyle/>
          <a:p>
            <a:pPr defTabSz="812353">
              <a:defRPr/>
            </a:pPr>
            <a:endParaRPr lang="en-US" sz="1599" kern="0">
              <a:solidFill>
                <a:srgbClr val="44546A"/>
              </a:solidFill>
            </a:endParaRPr>
          </a:p>
        </p:txBody>
      </p:sp>
      <p:cxnSp>
        <p:nvCxnSpPr>
          <p:cNvPr id="31" name="Conector recto 30">
            <a:extLst>
              <a:ext uri="{FF2B5EF4-FFF2-40B4-BE49-F238E27FC236}">
                <a16:creationId xmlns:a16="http://schemas.microsoft.com/office/drawing/2014/main" id="{544DE4D5-FC13-3932-FD6F-76DFC77A813A}"/>
              </a:ext>
            </a:extLst>
          </p:cNvPr>
          <p:cNvCxnSpPr>
            <a:cxnSpLocks/>
          </p:cNvCxnSpPr>
          <p:nvPr/>
        </p:nvCxnSpPr>
        <p:spPr>
          <a:xfrm>
            <a:off x="18509685" y="20157845"/>
            <a:ext cx="0" cy="450765"/>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sp>
        <p:nvSpPr>
          <p:cNvPr id="33" name="CuadroTexto 32">
            <a:extLst>
              <a:ext uri="{FF2B5EF4-FFF2-40B4-BE49-F238E27FC236}">
                <a16:creationId xmlns:a16="http://schemas.microsoft.com/office/drawing/2014/main" id="{DC038A8F-7066-5CAA-1472-A881A2CD20AC}"/>
              </a:ext>
            </a:extLst>
          </p:cNvPr>
          <p:cNvSpPr txBox="1"/>
          <p:nvPr/>
        </p:nvSpPr>
        <p:spPr>
          <a:xfrm>
            <a:off x="17922612" y="20704601"/>
            <a:ext cx="1367016" cy="420436"/>
          </a:xfrm>
          <a:prstGeom prst="rect">
            <a:avLst/>
          </a:prstGeom>
          <a:noFill/>
        </p:spPr>
        <p:txBody>
          <a:bodyPr wrap="square" rtlCol="0">
            <a:spAutoFit/>
          </a:bodyPr>
          <a:lstStyle/>
          <a:p>
            <a:r>
              <a:rPr lang="en-US" sz="2132" b="1" dirty="0">
                <a:solidFill>
                  <a:schemeClr val="bg1"/>
                </a:solidFill>
                <a:latin typeface="Segoe UI"/>
                <a:ea typeface="Open Sans" panose="020B0606030504020204" pitchFamily="34" charset="0"/>
                <a:cs typeface="Open Sans" panose="020B0606030504020204" pitchFamily="34" charset="0"/>
              </a:rPr>
              <a:t>CD-RISC</a:t>
            </a:r>
            <a:endParaRPr lang="es-MX" sz="2132" dirty="0">
              <a:solidFill>
                <a:schemeClr val="bg1"/>
              </a:solidFill>
            </a:endParaRPr>
          </a:p>
        </p:txBody>
      </p:sp>
      <p:cxnSp>
        <p:nvCxnSpPr>
          <p:cNvPr id="1411" name="Conector recto 1410">
            <a:extLst>
              <a:ext uri="{FF2B5EF4-FFF2-40B4-BE49-F238E27FC236}">
                <a16:creationId xmlns:a16="http://schemas.microsoft.com/office/drawing/2014/main" id="{0F083719-2C71-B8E5-4DEE-B5D26B136993}"/>
              </a:ext>
            </a:extLst>
          </p:cNvPr>
          <p:cNvCxnSpPr>
            <a:cxnSpLocks/>
          </p:cNvCxnSpPr>
          <p:nvPr/>
        </p:nvCxnSpPr>
        <p:spPr>
          <a:xfrm>
            <a:off x="10908832" y="3578308"/>
            <a:ext cx="16572456" cy="0"/>
          </a:xfrm>
          <a:prstGeom prst="line">
            <a:avLst/>
          </a:prstGeom>
          <a:ln w="762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4A786EEB-51F8-32C2-0761-9CEACF485508}"/>
              </a:ext>
            </a:extLst>
          </p:cNvPr>
          <p:cNvPicPr>
            <a:picLocks noChangeAspect="1"/>
          </p:cNvPicPr>
          <p:nvPr/>
        </p:nvPicPr>
        <p:blipFill>
          <a:blip r:embed="rId2"/>
          <a:srcRect t="6809" b="7428"/>
          <a:stretch>
            <a:fillRect/>
          </a:stretch>
        </p:blipFill>
        <p:spPr>
          <a:xfrm>
            <a:off x="1872862" y="45150209"/>
            <a:ext cx="4734834" cy="4070442"/>
          </a:xfrm>
          <a:prstGeom prst="rect">
            <a:avLst/>
          </a:prstGeom>
        </p:spPr>
      </p:pic>
      <p:sp>
        <p:nvSpPr>
          <p:cNvPr id="22" name="CuadroTexto 21">
            <a:extLst>
              <a:ext uri="{FF2B5EF4-FFF2-40B4-BE49-F238E27FC236}">
                <a16:creationId xmlns:a16="http://schemas.microsoft.com/office/drawing/2014/main" id="{C4572731-B190-FD7F-F0E3-B93A5E4C37C0}"/>
              </a:ext>
            </a:extLst>
          </p:cNvPr>
          <p:cNvSpPr txBox="1"/>
          <p:nvPr/>
        </p:nvSpPr>
        <p:spPr>
          <a:xfrm>
            <a:off x="10825635" y="4163262"/>
            <a:ext cx="16676318" cy="2862322"/>
          </a:xfrm>
          <a:prstGeom prst="rect">
            <a:avLst/>
          </a:prstGeom>
          <a:noFill/>
        </p:spPr>
        <p:txBody>
          <a:bodyPr wrap="square" rtlCol="0">
            <a:spAutoFit/>
          </a:bodyPr>
          <a:lstStyle/>
          <a:p>
            <a:r>
              <a:rPr lang="en-US" sz="360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Ponente(s):</a:t>
            </a:r>
            <a:r>
              <a:rPr lang="en-US" sz="360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Arteaga Revelo Maria Victoria, Benavides Burbano Carlos Julián</a:t>
            </a:r>
            <a:endParaRPr lang="es-CO" sz="3600" baseline="30000"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r>
              <a:rPr lang="en-US" sz="360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Asesor(a)/Lider del Semillero: </a:t>
            </a:r>
            <a:r>
              <a:rPr lang="en-US" sz="360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Arteaga Fajardo Daniel Fernando</a:t>
            </a:r>
            <a:endParaRPr lang="es-CO" sz="3600" baseline="30000"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r>
              <a:rPr lang="en-US" sz="360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Nombre del Semillero:  </a:t>
            </a:r>
            <a:r>
              <a:rPr lang="en-US" sz="3600" dirty="0" err="1">
                <a:solidFill>
                  <a:srgbClr val="212121"/>
                </a:solidFill>
                <a:latin typeface="Segoe UI" panose="020B0502040204020203" pitchFamily="34" charset="0"/>
                <a:ea typeface="Times New Roman" panose="02020603050405020304" pitchFamily="18" charset="0"/>
                <a:cs typeface="Segoe UI" panose="020B0502040204020203" pitchFamily="34" charset="0"/>
              </a:rPr>
              <a:t>Intitech</a:t>
            </a:r>
            <a:r>
              <a:rPr lang="en-US" sz="360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t>
            </a:r>
          </a:p>
          <a:p>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Datos de </a:t>
            </a:r>
            <a:r>
              <a:rPr lang="en-US" sz="3600" b="1"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contacto</a:t>
            </a:r>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a:t>
            </a:r>
          </a:p>
          <a:p>
            <a:r>
              <a:rPr lang="en-US" sz="360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t>
            </a:r>
          </a:p>
        </p:txBody>
      </p:sp>
      <p:sp>
        <p:nvSpPr>
          <p:cNvPr id="36" name="Rectángulo 35">
            <a:extLst>
              <a:ext uri="{FF2B5EF4-FFF2-40B4-BE49-F238E27FC236}">
                <a16:creationId xmlns:a16="http://schemas.microsoft.com/office/drawing/2014/main" id="{28680E78-26AF-BD36-BE41-E9E15C0CD4CC}"/>
              </a:ext>
            </a:extLst>
          </p:cNvPr>
          <p:cNvSpPr/>
          <p:nvPr/>
        </p:nvSpPr>
        <p:spPr>
          <a:xfrm>
            <a:off x="1121748" y="20199838"/>
            <a:ext cx="26339098" cy="523939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37" name="Rounded Rectangle 12">
            <a:extLst>
              <a:ext uri="{FF2B5EF4-FFF2-40B4-BE49-F238E27FC236}">
                <a16:creationId xmlns:a16="http://schemas.microsoft.com/office/drawing/2014/main" id="{091912AD-BBD4-4170-F87D-DCBCC867EDEA}"/>
              </a:ext>
            </a:extLst>
          </p:cNvPr>
          <p:cNvSpPr/>
          <p:nvPr/>
        </p:nvSpPr>
        <p:spPr>
          <a:xfrm>
            <a:off x="1336143" y="20821141"/>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03</a:t>
            </a:r>
          </a:p>
        </p:txBody>
      </p:sp>
      <p:sp>
        <p:nvSpPr>
          <p:cNvPr id="42" name="CuadroTexto 41">
            <a:extLst>
              <a:ext uri="{FF2B5EF4-FFF2-40B4-BE49-F238E27FC236}">
                <a16:creationId xmlns:a16="http://schemas.microsoft.com/office/drawing/2014/main" id="{820074BB-EF79-691A-F44C-21B4B6E6BC72}"/>
              </a:ext>
            </a:extLst>
          </p:cNvPr>
          <p:cNvSpPr txBox="1"/>
          <p:nvPr/>
        </p:nvSpPr>
        <p:spPr>
          <a:xfrm>
            <a:off x="2617228" y="14486077"/>
            <a:ext cx="24505598" cy="5139869"/>
          </a:xfrm>
          <a:prstGeom prst="rect">
            <a:avLst/>
          </a:prstGeom>
          <a:solidFill>
            <a:schemeClr val="bg1"/>
          </a:solidFill>
          <a:ln>
            <a:noFill/>
          </a:ln>
        </p:spPr>
        <p:txBody>
          <a:bodyPr wrap="square">
            <a:spAutoFit/>
          </a:bodyPr>
          <a:lstStyle/>
          <a:p>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Objetivos</a:t>
            </a:r>
          </a:p>
          <a:p>
            <a:pPr algn="just"/>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 general: </a:t>
            </a:r>
            <a:r>
              <a:rPr lang="es-MX" sz="3600" dirty="0">
                <a:latin typeface="Segoe UI" panose="020B0502040204020203" pitchFamily="34" charset="0"/>
                <a:cs typeface="Segoe UI" panose="020B0502040204020203" pitchFamily="34" charset="0"/>
              </a:rPr>
              <a:t>Construir una herramienta software basada en inteligencia artificial orientada al fortalecimiento de la evaluación de competencias clínicas en estudiantes de medicina mediante simulación clínica.</a:t>
            </a:r>
            <a:endPar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Objetivos : específicos</a:t>
            </a:r>
          </a:p>
          <a:p>
            <a:pPr marL="571500" indent="-571500">
              <a:buFont typeface="Arial" panose="020B0604020202020204" pitchFamily="34" charset="0"/>
              <a:buChar char="•"/>
            </a:pPr>
            <a:r>
              <a:rPr lang="es-MX" sz="3600" dirty="0"/>
              <a:t>Caracterizar los procesos actuales de evaluación clínica en el programa de Medicina para formulación de requerimientos. </a:t>
            </a:r>
          </a:p>
          <a:p>
            <a:pPr marL="571500" indent="-571500">
              <a:buFont typeface="Arial" panose="020B0604020202020204" pitchFamily="34" charset="0"/>
              <a:buChar char="•"/>
            </a:pPr>
            <a:r>
              <a:rPr lang="es-MX" sz="3600" dirty="0"/>
              <a:t>Diseñar una arquitectura de software que incluya el modelo pedagógico y evaluativo del aplicativo. </a:t>
            </a:r>
          </a:p>
          <a:p>
            <a:pPr marL="571500" indent="-571500">
              <a:buFont typeface="Arial" panose="020B0604020202020204" pitchFamily="34" charset="0"/>
              <a:buChar char="•"/>
            </a:pPr>
            <a:r>
              <a:rPr lang="es-MX" sz="3600" dirty="0"/>
              <a:t>Construir el aplicativo integrando inteligencia artificial para uso de profesores y estudiantes. </a:t>
            </a:r>
          </a:p>
          <a:p>
            <a:pPr marL="571500" indent="-571500">
              <a:buFont typeface="Arial" panose="020B0604020202020204" pitchFamily="34" charset="0"/>
              <a:buChar char="•"/>
            </a:pPr>
            <a:r>
              <a:rPr lang="es-MX" sz="3600" dirty="0"/>
              <a:t>Probar el software usando estándares iso25010 en escenarios de simulación clínica. </a:t>
            </a:r>
          </a:p>
          <a:p>
            <a:pPr marL="571500" indent="-571500">
              <a:buFont typeface="Arial" panose="020B0604020202020204" pitchFamily="34" charset="0"/>
              <a:buChar char="•"/>
            </a:pPr>
            <a:r>
              <a:rPr lang="es-MX" sz="3600" dirty="0"/>
              <a:t>Validar la utilidad y aceptación de los resultados académicos obtenidos.</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50" name="CuadroTexto 49">
            <a:extLst>
              <a:ext uri="{FF2B5EF4-FFF2-40B4-BE49-F238E27FC236}">
                <a16:creationId xmlns:a16="http://schemas.microsoft.com/office/drawing/2014/main" id="{ADF624B4-CA51-1B3E-5EDB-EAF89A0978EA}"/>
              </a:ext>
            </a:extLst>
          </p:cNvPr>
          <p:cNvSpPr txBox="1"/>
          <p:nvPr/>
        </p:nvSpPr>
        <p:spPr>
          <a:xfrm>
            <a:off x="2519871" y="20666291"/>
            <a:ext cx="24700312" cy="4401205"/>
          </a:xfrm>
          <a:prstGeom prst="rect">
            <a:avLst/>
          </a:prstGeom>
          <a:solidFill>
            <a:schemeClr val="bg1"/>
          </a:solidFill>
          <a:ln>
            <a:noFill/>
          </a:ln>
        </p:spPr>
        <p:txBody>
          <a:bodyPr wrap="square">
            <a:spAutoFit/>
          </a:bodyPr>
          <a:lstStyle/>
          <a:p>
            <a:pPr algn="just"/>
            <a:r>
              <a:rPr lang="es-CO" sz="4000" b="1" dirty="0">
                <a:latin typeface="Segoe UI" panose="020B0502040204020203" pitchFamily="34" charset="0"/>
                <a:cs typeface="Segoe UI" panose="020B0502040204020203" pitchFamily="34" charset="0"/>
              </a:rPr>
              <a:t>Marco conceptual: </a:t>
            </a:r>
          </a:p>
          <a:p>
            <a:pPr algn="just"/>
            <a:r>
              <a:rPr lang="es-MX" sz="3600" dirty="0"/>
              <a:t>La evaluación de competencias clínicas se basa en la </a:t>
            </a:r>
            <a:r>
              <a:rPr lang="es-MX" sz="3600" i="1" dirty="0"/>
              <a:t>Pirámide de Miller </a:t>
            </a:r>
            <a:r>
              <a:rPr lang="es-MX" sz="3600" dirty="0"/>
              <a:t>y el desempeño observable. Aunque la simulación y el sistema </a:t>
            </a:r>
            <a:r>
              <a:rPr lang="es-MX" sz="3600" i="1" dirty="0"/>
              <a:t>ECOE/OSCE </a:t>
            </a:r>
            <a:r>
              <a:rPr lang="es-MX" sz="3600" dirty="0"/>
              <a:t>son válidos para medir habilidades y razonamiento, la literatura reporta falta de fiabilidad interevaluador y limitaciones en la retroalimentación cuando depende solo del humano.</a:t>
            </a:r>
          </a:p>
          <a:p>
            <a:pPr algn="just"/>
            <a:endParaRPr lang="es-MX" sz="2000" dirty="0"/>
          </a:p>
          <a:p>
            <a:pPr algn="just"/>
            <a:r>
              <a:rPr lang="es-MX" sz="3600" dirty="0"/>
              <a:t>A nivel internacional, la </a:t>
            </a:r>
            <a:r>
              <a:rPr lang="es-MX" sz="3600" i="1" dirty="0"/>
              <a:t>IA </a:t>
            </a:r>
            <a:r>
              <a:rPr lang="es-MX" sz="3600" dirty="0"/>
              <a:t>se aplica en análisis de desempeño y tutoría inteligente como apoyo al docente, sin reemplazar su juicio clínico. En Colombia, la evidencia sobre estos aplicativos es limitada, lo que posiciona a este proyecto como una propuesta innovadora y alineada con las prioridades de desarrollo tecnológico en educación superior y salud.</a:t>
            </a:r>
          </a:p>
        </p:txBody>
      </p:sp>
      <p:sp>
        <p:nvSpPr>
          <p:cNvPr id="51" name="CuadroTexto 50">
            <a:extLst>
              <a:ext uri="{FF2B5EF4-FFF2-40B4-BE49-F238E27FC236}">
                <a16:creationId xmlns:a16="http://schemas.microsoft.com/office/drawing/2014/main" id="{292D48F2-E061-736A-CE6C-7BBDB57CEC47}"/>
              </a:ext>
            </a:extLst>
          </p:cNvPr>
          <p:cNvSpPr txBox="1"/>
          <p:nvPr/>
        </p:nvSpPr>
        <p:spPr>
          <a:xfrm>
            <a:off x="2876496" y="26344608"/>
            <a:ext cx="8787349" cy="707886"/>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Métodos:</a:t>
            </a:r>
          </a:p>
        </p:txBody>
      </p:sp>
      <p:pic>
        <p:nvPicPr>
          <p:cNvPr id="55" name="Imagen 54">
            <a:extLst>
              <a:ext uri="{FF2B5EF4-FFF2-40B4-BE49-F238E27FC236}">
                <a16:creationId xmlns:a16="http://schemas.microsoft.com/office/drawing/2014/main" id="{D623BE79-CC5E-E947-30D7-8A01B0B51A6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339831" y="45150209"/>
            <a:ext cx="4400325" cy="4423007"/>
          </a:xfrm>
          <a:prstGeom prst="rect">
            <a:avLst/>
          </a:prstGeom>
        </p:spPr>
      </p:pic>
      <p:pic>
        <p:nvPicPr>
          <p:cNvPr id="12" name="Imagen 11">
            <a:extLst>
              <a:ext uri="{FF2B5EF4-FFF2-40B4-BE49-F238E27FC236}">
                <a16:creationId xmlns:a16="http://schemas.microsoft.com/office/drawing/2014/main" id="{85E92FA5-AE7F-1A76-75A3-5F6606BF532A}"/>
              </a:ext>
            </a:extLst>
          </p:cNvPr>
          <p:cNvPicPr>
            <a:picLocks noChangeAspect="1"/>
          </p:cNvPicPr>
          <p:nvPr/>
        </p:nvPicPr>
        <p:blipFill rotWithShape="1">
          <a:blip r:embed="rId5">
            <a:extLst>
              <a:ext uri="{28A0092B-C50C-407E-A947-70E740481C1C}">
                <a14:useLocalDpi xmlns:a14="http://schemas.microsoft.com/office/drawing/2010/main" val="0"/>
              </a:ext>
            </a:extLst>
          </a:blip>
          <a:srcRect l="9431" t="21221" r="3721" b="21651"/>
          <a:stretch>
            <a:fillRect/>
          </a:stretch>
        </p:blipFill>
        <p:spPr bwMode="auto">
          <a:xfrm>
            <a:off x="21530965" y="45150209"/>
            <a:ext cx="4529637" cy="4261440"/>
          </a:xfrm>
          <a:prstGeom prst="rect">
            <a:avLst/>
          </a:prstGeom>
          <a:ln w="38100" cap="sq" cmpd="sng" algn="ctr">
            <a:solidFill>
              <a:srgbClr val="000000"/>
            </a:solidFill>
            <a:prstDash val="solid"/>
            <a:miter lim="800000"/>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71433708-34A3-686F-B5DF-A9A58A80DD68}"/>
              </a:ext>
            </a:extLst>
          </p:cNvPr>
          <p:cNvPicPr>
            <a:picLocks noChangeAspect="1"/>
          </p:cNvPicPr>
          <p:nvPr/>
        </p:nvPicPr>
        <p:blipFill>
          <a:blip r:embed="rId6"/>
          <a:srcRect l="16982" t="10990" r="18217" b="11045"/>
          <a:stretch>
            <a:fillRect/>
          </a:stretch>
        </p:blipFill>
        <p:spPr>
          <a:xfrm>
            <a:off x="1645945" y="467679"/>
            <a:ext cx="8612586" cy="7768729"/>
          </a:xfrm>
          <a:prstGeom prst="rect">
            <a:avLst/>
          </a:prstGeom>
        </p:spPr>
      </p:pic>
      <p:pic>
        <p:nvPicPr>
          <p:cNvPr id="8" name="Imagen 7">
            <a:extLst>
              <a:ext uri="{FF2B5EF4-FFF2-40B4-BE49-F238E27FC236}">
                <a16:creationId xmlns:a16="http://schemas.microsoft.com/office/drawing/2014/main" id="{B1815C0A-FEA5-428C-3189-4A7C7E962E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70742" y="45150865"/>
            <a:ext cx="4529637" cy="4261440"/>
          </a:xfrm>
          <a:prstGeom prst="rect">
            <a:avLst/>
          </a:prstGeom>
        </p:spPr>
      </p:pic>
      <p:sp>
        <p:nvSpPr>
          <p:cNvPr id="17" name="Rectángulo 16">
            <a:extLst>
              <a:ext uri="{FF2B5EF4-FFF2-40B4-BE49-F238E27FC236}">
                <a16:creationId xmlns:a16="http://schemas.microsoft.com/office/drawing/2014/main" id="{3FE058C5-633F-8D81-115B-9B398D1B24F1}"/>
              </a:ext>
            </a:extLst>
          </p:cNvPr>
          <p:cNvSpPr/>
          <p:nvPr/>
        </p:nvSpPr>
        <p:spPr>
          <a:xfrm>
            <a:off x="14870742" y="25738936"/>
            <a:ext cx="12590104" cy="561330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21" name="CuadroTexto 20">
            <a:extLst>
              <a:ext uri="{FF2B5EF4-FFF2-40B4-BE49-F238E27FC236}">
                <a16:creationId xmlns:a16="http://schemas.microsoft.com/office/drawing/2014/main" id="{ECD008CD-6FF9-2969-E517-FF6FC0EAD1C9}"/>
              </a:ext>
            </a:extLst>
          </p:cNvPr>
          <p:cNvSpPr txBox="1"/>
          <p:nvPr/>
        </p:nvSpPr>
        <p:spPr>
          <a:xfrm>
            <a:off x="16403252" y="26179501"/>
            <a:ext cx="10243874" cy="4401205"/>
          </a:xfrm>
          <a:prstGeom prst="rect">
            <a:avLst/>
          </a:prstGeom>
          <a:solidFill>
            <a:schemeClr val="bg1"/>
          </a:solidFill>
          <a:ln>
            <a:noFill/>
          </a:ln>
        </p:spPr>
        <p:txBody>
          <a:bodyPr wrap="square">
            <a:spAutoFit/>
          </a:bodyPr>
          <a:lstStyle/>
          <a:p>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Resultados esperados:</a:t>
            </a:r>
          </a:p>
          <a:p>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marL="1028700" lvl="1" indent="-571500">
              <a:buFont typeface="Arial" panose="020B0604020202020204" pitchFamily="34" charset="0"/>
              <a:buChar char="•"/>
            </a:pPr>
            <a:r>
              <a:rPr lang="es-MX" sz="3600" dirty="0"/>
              <a:t>Aplicativo validado.</a:t>
            </a:r>
          </a:p>
          <a:p>
            <a:pPr marL="1028700" lvl="1" indent="-571500">
              <a:buFont typeface="Arial" panose="020B0604020202020204" pitchFamily="34" charset="0"/>
              <a:buChar char="•"/>
            </a:pPr>
            <a:r>
              <a:rPr lang="es-MX" sz="3600" dirty="0"/>
              <a:t>Protocolo institucional.</a:t>
            </a:r>
          </a:p>
          <a:p>
            <a:pPr marL="1028700" lvl="1" indent="-571500">
              <a:buFont typeface="Arial" panose="020B0604020202020204" pitchFamily="34" charset="0"/>
              <a:buChar char="•"/>
            </a:pPr>
            <a:r>
              <a:rPr lang="es-MX" sz="3600" dirty="0"/>
              <a:t>Artículo científico.</a:t>
            </a:r>
          </a:p>
          <a:p>
            <a:pPr marL="1028700" lvl="1" indent="-571500">
              <a:buFont typeface="Arial" panose="020B0604020202020204" pitchFamily="34" charset="0"/>
              <a:buChar char="•"/>
            </a:pPr>
            <a:r>
              <a:rPr lang="es-MX" sz="3600" dirty="0"/>
              <a:t>Informe técnico.</a:t>
            </a:r>
          </a:p>
          <a:p>
            <a:pPr marL="1028700" lvl="1" indent="-571500">
              <a:buFont typeface="Arial" panose="020B0604020202020204" pitchFamily="34" charset="0"/>
              <a:buChar char="•"/>
            </a:pPr>
            <a:r>
              <a:rPr lang="es-MX" sz="3600" dirty="0"/>
              <a:t>Material formativo.</a:t>
            </a:r>
          </a:p>
          <a:p>
            <a:pPr marL="1028700" lvl="1" indent="-571500">
              <a:buFont typeface="Arial" panose="020B0604020202020204" pitchFamily="34" charset="0"/>
              <a:buChar char="•"/>
            </a:pPr>
            <a:r>
              <a:rPr lang="es-MX" sz="3600" dirty="0"/>
              <a:t>Formación de talento humano.</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27" name="Rounded Rectangle 12">
            <a:extLst>
              <a:ext uri="{FF2B5EF4-FFF2-40B4-BE49-F238E27FC236}">
                <a16:creationId xmlns:a16="http://schemas.microsoft.com/office/drawing/2014/main" id="{9775173D-B6A2-E197-A327-0E8D1EC0C52A}"/>
              </a:ext>
            </a:extLst>
          </p:cNvPr>
          <p:cNvSpPr/>
          <p:nvPr/>
        </p:nvSpPr>
        <p:spPr>
          <a:xfrm>
            <a:off x="15192505" y="26250763"/>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05</a:t>
            </a:r>
          </a:p>
        </p:txBody>
      </p:sp>
      <p:sp>
        <p:nvSpPr>
          <p:cNvPr id="61" name="Rectángulo: esquinas redondeadas 60">
            <a:extLst>
              <a:ext uri="{FF2B5EF4-FFF2-40B4-BE49-F238E27FC236}">
                <a16:creationId xmlns:a16="http://schemas.microsoft.com/office/drawing/2014/main" id="{3E0D092E-9E52-D65D-FBDA-6DD20B5AAB2B}"/>
              </a:ext>
            </a:extLst>
          </p:cNvPr>
          <p:cNvSpPr/>
          <p:nvPr/>
        </p:nvSpPr>
        <p:spPr>
          <a:xfrm>
            <a:off x="2805851" y="29396694"/>
            <a:ext cx="1592661" cy="646331"/>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Rectángulo: esquinas redondeadas 61">
            <a:extLst>
              <a:ext uri="{FF2B5EF4-FFF2-40B4-BE49-F238E27FC236}">
                <a16:creationId xmlns:a16="http://schemas.microsoft.com/office/drawing/2014/main" id="{E28B802E-2235-1FEE-2847-469519B8DB53}"/>
              </a:ext>
            </a:extLst>
          </p:cNvPr>
          <p:cNvSpPr/>
          <p:nvPr/>
        </p:nvSpPr>
        <p:spPr>
          <a:xfrm>
            <a:off x="7139437" y="29457862"/>
            <a:ext cx="1592661" cy="646331"/>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08" name="Rectángulo: esquinas redondeadas 1407">
            <a:extLst>
              <a:ext uri="{FF2B5EF4-FFF2-40B4-BE49-F238E27FC236}">
                <a16:creationId xmlns:a16="http://schemas.microsoft.com/office/drawing/2014/main" id="{9FCC0246-5E90-64D5-D006-9385CE4F539E}"/>
              </a:ext>
            </a:extLst>
          </p:cNvPr>
          <p:cNvSpPr/>
          <p:nvPr/>
        </p:nvSpPr>
        <p:spPr>
          <a:xfrm>
            <a:off x="1697647" y="30541336"/>
            <a:ext cx="3892370" cy="3454115"/>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09" name="Rectángulo: esquinas redondeadas 1408">
            <a:extLst>
              <a:ext uri="{FF2B5EF4-FFF2-40B4-BE49-F238E27FC236}">
                <a16:creationId xmlns:a16="http://schemas.microsoft.com/office/drawing/2014/main" id="{B126E7CA-83BB-DA9B-7297-CE6BA2E29432}"/>
              </a:ext>
            </a:extLst>
          </p:cNvPr>
          <p:cNvSpPr/>
          <p:nvPr/>
        </p:nvSpPr>
        <p:spPr>
          <a:xfrm>
            <a:off x="5955331" y="30479728"/>
            <a:ext cx="3948217" cy="3515720"/>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0" name="Rectángulo: esquinas redondeadas 1409">
            <a:extLst>
              <a:ext uri="{FF2B5EF4-FFF2-40B4-BE49-F238E27FC236}">
                <a16:creationId xmlns:a16="http://schemas.microsoft.com/office/drawing/2014/main" id="{C764E793-0A79-FAF9-212C-AC1EAA1F27E4}"/>
              </a:ext>
            </a:extLst>
          </p:cNvPr>
          <p:cNvSpPr/>
          <p:nvPr/>
        </p:nvSpPr>
        <p:spPr>
          <a:xfrm>
            <a:off x="10399487" y="30451803"/>
            <a:ext cx="3216167" cy="3571569"/>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2" name="Rectángulo: esquinas redondeadas 1411">
            <a:extLst>
              <a:ext uri="{FF2B5EF4-FFF2-40B4-BE49-F238E27FC236}">
                <a16:creationId xmlns:a16="http://schemas.microsoft.com/office/drawing/2014/main" id="{3443005A-31B8-063D-6385-B42980B73191}"/>
              </a:ext>
            </a:extLst>
          </p:cNvPr>
          <p:cNvSpPr/>
          <p:nvPr/>
        </p:nvSpPr>
        <p:spPr>
          <a:xfrm>
            <a:off x="4979466" y="34331985"/>
            <a:ext cx="1592661" cy="646331"/>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14" name="Rectángulo: esquinas redondeadas 1413">
            <a:extLst>
              <a:ext uri="{FF2B5EF4-FFF2-40B4-BE49-F238E27FC236}">
                <a16:creationId xmlns:a16="http://schemas.microsoft.com/office/drawing/2014/main" id="{F0CC67E4-0CD7-93D6-7BD5-630309EC0DFB}"/>
              </a:ext>
            </a:extLst>
          </p:cNvPr>
          <p:cNvSpPr/>
          <p:nvPr/>
        </p:nvSpPr>
        <p:spPr>
          <a:xfrm>
            <a:off x="9358367" y="34346953"/>
            <a:ext cx="1544990" cy="616392"/>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6" name="Rectángulo: esquinas redondeadas 1415">
            <a:extLst>
              <a:ext uri="{FF2B5EF4-FFF2-40B4-BE49-F238E27FC236}">
                <a16:creationId xmlns:a16="http://schemas.microsoft.com/office/drawing/2014/main" id="{06619044-51C2-9274-ECAF-DF8D4DAA78E7}"/>
              </a:ext>
            </a:extLst>
          </p:cNvPr>
          <p:cNvSpPr/>
          <p:nvPr/>
        </p:nvSpPr>
        <p:spPr>
          <a:xfrm>
            <a:off x="3899537" y="35319255"/>
            <a:ext cx="3719877" cy="1754326"/>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7" name="Rectángulo: esquinas redondeadas 1416">
            <a:extLst>
              <a:ext uri="{FF2B5EF4-FFF2-40B4-BE49-F238E27FC236}">
                <a16:creationId xmlns:a16="http://schemas.microsoft.com/office/drawing/2014/main" id="{4C83734A-47AD-09B7-19A4-012644F16BE0}"/>
              </a:ext>
            </a:extLst>
          </p:cNvPr>
          <p:cNvSpPr/>
          <p:nvPr/>
        </p:nvSpPr>
        <p:spPr>
          <a:xfrm>
            <a:off x="8029226" y="35227215"/>
            <a:ext cx="4606087" cy="2386849"/>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421" name="Conector recto 1420">
            <a:extLst>
              <a:ext uri="{FF2B5EF4-FFF2-40B4-BE49-F238E27FC236}">
                <a16:creationId xmlns:a16="http://schemas.microsoft.com/office/drawing/2014/main" id="{5370E0BB-9BC9-6B0A-853B-B6013838B24F}"/>
              </a:ext>
            </a:extLst>
          </p:cNvPr>
          <p:cNvCxnSpPr>
            <a:cxnSpLocks/>
            <a:endCxn id="62" idx="0"/>
          </p:cNvCxnSpPr>
          <p:nvPr/>
        </p:nvCxnSpPr>
        <p:spPr>
          <a:xfrm>
            <a:off x="7933380" y="28593990"/>
            <a:ext cx="2388" cy="8638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4" name="Conector recto 1423">
            <a:extLst>
              <a:ext uri="{FF2B5EF4-FFF2-40B4-BE49-F238E27FC236}">
                <a16:creationId xmlns:a16="http://schemas.microsoft.com/office/drawing/2014/main" id="{D552D72F-C87A-593F-28D7-E239EFF44648}"/>
              </a:ext>
            </a:extLst>
          </p:cNvPr>
          <p:cNvCxnSpPr>
            <a:cxnSpLocks/>
          </p:cNvCxnSpPr>
          <p:nvPr/>
        </p:nvCxnSpPr>
        <p:spPr>
          <a:xfrm>
            <a:off x="3576551" y="28957345"/>
            <a:ext cx="8408766"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1426" name="Conector recto 1425">
            <a:extLst>
              <a:ext uri="{FF2B5EF4-FFF2-40B4-BE49-F238E27FC236}">
                <a16:creationId xmlns:a16="http://schemas.microsoft.com/office/drawing/2014/main" id="{76117DF5-23F2-B4D1-B100-D8F3FFE3CD78}"/>
              </a:ext>
            </a:extLst>
          </p:cNvPr>
          <p:cNvCxnSpPr>
            <a:stCxn id="61" idx="0"/>
          </p:cNvCxnSpPr>
          <p:nvPr/>
        </p:nvCxnSpPr>
        <p:spPr>
          <a:xfrm flipH="1" flipV="1">
            <a:off x="3602181" y="28967582"/>
            <a:ext cx="1" cy="429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8" name="Conector recto 1427">
            <a:extLst>
              <a:ext uri="{FF2B5EF4-FFF2-40B4-BE49-F238E27FC236}">
                <a16:creationId xmlns:a16="http://schemas.microsoft.com/office/drawing/2014/main" id="{FBA7975A-46BE-9A1C-3E06-82137C80C886}"/>
              </a:ext>
            </a:extLst>
          </p:cNvPr>
          <p:cNvCxnSpPr>
            <a:cxnSpLocks/>
            <a:endCxn id="63" idx="0"/>
          </p:cNvCxnSpPr>
          <p:nvPr/>
        </p:nvCxnSpPr>
        <p:spPr>
          <a:xfrm>
            <a:off x="11985317" y="28970043"/>
            <a:ext cx="0" cy="4091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0" name="Conector recto 1449">
            <a:extLst>
              <a:ext uri="{FF2B5EF4-FFF2-40B4-BE49-F238E27FC236}">
                <a16:creationId xmlns:a16="http://schemas.microsoft.com/office/drawing/2014/main" id="{3E5D7E6D-D7BE-92A4-8F8D-7B92C81BDE5E}"/>
              </a:ext>
            </a:extLst>
          </p:cNvPr>
          <p:cNvCxnSpPr>
            <a:cxnSpLocks/>
          </p:cNvCxnSpPr>
          <p:nvPr/>
        </p:nvCxnSpPr>
        <p:spPr>
          <a:xfrm flipV="1">
            <a:off x="10128608" y="28957345"/>
            <a:ext cx="0" cy="53582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3" name="Conector recto 1452">
            <a:extLst>
              <a:ext uri="{FF2B5EF4-FFF2-40B4-BE49-F238E27FC236}">
                <a16:creationId xmlns:a16="http://schemas.microsoft.com/office/drawing/2014/main" id="{F224CB57-4031-74FB-2AB3-5C15AFC57AF6}"/>
              </a:ext>
            </a:extLst>
          </p:cNvPr>
          <p:cNvCxnSpPr>
            <a:cxnSpLocks/>
          </p:cNvCxnSpPr>
          <p:nvPr/>
        </p:nvCxnSpPr>
        <p:spPr>
          <a:xfrm flipV="1">
            <a:off x="5770015" y="28957345"/>
            <a:ext cx="0" cy="53582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ángulo: esquinas redondeadas 59">
            <a:extLst>
              <a:ext uri="{FF2B5EF4-FFF2-40B4-BE49-F238E27FC236}">
                <a16:creationId xmlns:a16="http://schemas.microsoft.com/office/drawing/2014/main" id="{9D56419D-E000-8737-E164-779CFE3FBF8A}"/>
              </a:ext>
            </a:extLst>
          </p:cNvPr>
          <p:cNvSpPr/>
          <p:nvPr/>
        </p:nvSpPr>
        <p:spPr>
          <a:xfrm>
            <a:off x="3576551" y="27387508"/>
            <a:ext cx="8515350" cy="1260463"/>
          </a:xfrm>
          <a:prstGeom prst="roundRect">
            <a:avLst/>
          </a:prstGeom>
          <a:solidFill>
            <a:srgbClr val="99CC00"/>
          </a:solid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57" name="CuadroTexto 1456">
            <a:extLst>
              <a:ext uri="{FF2B5EF4-FFF2-40B4-BE49-F238E27FC236}">
                <a16:creationId xmlns:a16="http://schemas.microsoft.com/office/drawing/2014/main" id="{F549256E-DD5E-CA40-EB52-FC77080C81D7}"/>
              </a:ext>
            </a:extLst>
          </p:cNvPr>
          <p:cNvSpPr txBox="1"/>
          <p:nvPr/>
        </p:nvSpPr>
        <p:spPr>
          <a:xfrm>
            <a:off x="3599290" y="27424373"/>
            <a:ext cx="8469872" cy="1200329"/>
          </a:xfrm>
          <a:prstGeom prst="rect">
            <a:avLst/>
          </a:prstGeom>
          <a:noFill/>
          <a:ln>
            <a:noFill/>
          </a:ln>
        </p:spPr>
        <p:txBody>
          <a:bodyPr wrap="square">
            <a:spAutoFit/>
          </a:bodyPr>
          <a:lstStyle/>
          <a:p>
            <a:pPr algn="ctr"/>
            <a:r>
              <a:rPr lang="es-MX" sz="3600" dirty="0">
                <a:solidFill>
                  <a:schemeClr val="bg1"/>
                </a:solidFill>
              </a:rPr>
              <a:t>Investigación aplicada con enfoque mixto y componente de desarrollo tecnológico (I+D).</a:t>
            </a:r>
            <a:endParaRPr lang="en-US" sz="2800"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63" name="Rectángulo: esquinas redondeadas 62">
            <a:extLst>
              <a:ext uri="{FF2B5EF4-FFF2-40B4-BE49-F238E27FC236}">
                <a16:creationId xmlns:a16="http://schemas.microsoft.com/office/drawing/2014/main" id="{65A45A6F-6D3D-6CF0-A151-B58A1B098089}"/>
              </a:ext>
            </a:extLst>
          </p:cNvPr>
          <p:cNvSpPr/>
          <p:nvPr/>
        </p:nvSpPr>
        <p:spPr>
          <a:xfrm>
            <a:off x="11198889" y="29379172"/>
            <a:ext cx="1572856" cy="659092"/>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60" name="CuadroTexto 1459">
            <a:extLst>
              <a:ext uri="{FF2B5EF4-FFF2-40B4-BE49-F238E27FC236}">
                <a16:creationId xmlns:a16="http://schemas.microsoft.com/office/drawing/2014/main" id="{8AEC5357-6DA9-56F9-AAF7-689F476F35D9}"/>
              </a:ext>
            </a:extLst>
          </p:cNvPr>
          <p:cNvSpPr txBox="1"/>
          <p:nvPr/>
        </p:nvSpPr>
        <p:spPr>
          <a:xfrm>
            <a:off x="11231159" y="29406548"/>
            <a:ext cx="1538198" cy="646331"/>
          </a:xfrm>
          <a:prstGeom prst="rect">
            <a:avLst/>
          </a:prstGeom>
          <a:noFill/>
          <a:ln>
            <a:noFill/>
          </a:ln>
        </p:spPr>
        <p:txBody>
          <a:bodyPr wrap="square">
            <a:spAutoFit/>
          </a:bodyPr>
          <a:lstStyle/>
          <a:p>
            <a:pPr algn="ctr"/>
            <a:r>
              <a:rPr lang="es-MX" sz="36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Fase 3</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3" name="CuadroTexto 1462">
            <a:extLst>
              <a:ext uri="{FF2B5EF4-FFF2-40B4-BE49-F238E27FC236}">
                <a16:creationId xmlns:a16="http://schemas.microsoft.com/office/drawing/2014/main" id="{31294FD7-7897-6876-8B27-CC0023C39118}"/>
              </a:ext>
            </a:extLst>
          </p:cNvPr>
          <p:cNvSpPr txBox="1"/>
          <p:nvPr/>
        </p:nvSpPr>
        <p:spPr>
          <a:xfrm>
            <a:off x="7139437" y="29467632"/>
            <a:ext cx="1592661" cy="646331"/>
          </a:xfrm>
          <a:prstGeom prst="rect">
            <a:avLst/>
          </a:prstGeom>
          <a:noFill/>
          <a:ln>
            <a:noFill/>
          </a:ln>
        </p:spPr>
        <p:txBody>
          <a:bodyPr wrap="square">
            <a:spAutoFit/>
          </a:bodyPr>
          <a:lstStyle/>
          <a:p>
            <a:pPr algn="ctr"/>
            <a:r>
              <a:rPr lang="es-MX" sz="36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Fase 2</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4" name="CuadroTexto 1463">
            <a:extLst>
              <a:ext uri="{FF2B5EF4-FFF2-40B4-BE49-F238E27FC236}">
                <a16:creationId xmlns:a16="http://schemas.microsoft.com/office/drawing/2014/main" id="{28403305-2C90-65E1-DC79-FF4746753A4E}"/>
              </a:ext>
            </a:extLst>
          </p:cNvPr>
          <p:cNvSpPr txBox="1"/>
          <p:nvPr/>
        </p:nvSpPr>
        <p:spPr>
          <a:xfrm>
            <a:off x="2828911" y="29411118"/>
            <a:ext cx="1592661" cy="646331"/>
          </a:xfrm>
          <a:prstGeom prst="rect">
            <a:avLst/>
          </a:prstGeom>
          <a:noFill/>
          <a:ln>
            <a:noFill/>
          </a:ln>
        </p:spPr>
        <p:txBody>
          <a:bodyPr wrap="square">
            <a:spAutoFit/>
          </a:bodyPr>
          <a:lstStyle/>
          <a:p>
            <a:pPr algn="ctr"/>
            <a:r>
              <a:rPr lang="es-MX" sz="36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Fase 1</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5" name="CuadroTexto 1464">
            <a:extLst>
              <a:ext uri="{FF2B5EF4-FFF2-40B4-BE49-F238E27FC236}">
                <a16:creationId xmlns:a16="http://schemas.microsoft.com/office/drawing/2014/main" id="{FAFC42D4-BD12-938D-584A-4BB0BA9D4F14}"/>
              </a:ext>
            </a:extLst>
          </p:cNvPr>
          <p:cNvSpPr txBox="1"/>
          <p:nvPr/>
        </p:nvSpPr>
        <p:spPr>
          <a:xfrm>
            <a:off x="1605218" y="30567522"/>
            <a:ext cx="4080978" cy="3416320"/>
          </a:xfrm>
          <a:prstGeom prst="rect">
            <a:avLst/>
          </a:prstGeom>
          <a:noFill/>
          <a:ln>
            <a:noFill/>
          </a:ln>
        </p:spPr>
        <p:txBody>
          <a:bodyPr wrap="square">
            <a:spAutoFit/>
          </a:bodyPr>
          <a:lstStyle/>
          <a:p>
            <a:pPr algn="ctr"/>
            <a:r>
              <a:rPr lang="es-CO" sz="3600" dirty="0">
                <a:solidFill>
                  <a:schemeClr val="bg1"/>
                </a:solidFill>
              </a:rPr>
              <a:t>Revisión documental, entrevistas a docentes y análisis de instrumentos actuales.</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6" name="CuadroTexto 1465">
            <a:extLst>
              <a:ext uri="{FF2B5EF4-FFF2-40B4-BE49-F238E27FC236}">
                <a16:creationId xmlns:a16="http://schemas.microsoft.com/office/drawing/2014/main" id="{F9C7BD73-DC0E-FFD2-ED3C-FC13330B70A2}"/>
              </a:ext>
            </a:extLst>
          </p:cNvPr>
          <p:cNvSpPr txBox="1"/>
          <p:nvPr/>
        </p:nvSpPr>
        <p:spPr>
          <a:xfrm>
            <a:off x="5978190" y="30532399"/>
            <a:ext cx="3948217" cy="3416320"/>
          </a:xfrm>
          <a:prstGeom prst="rect">
            <a:avLst/>
          </a:prstGeom>
          <a:noFill/>
          <a:ln>
            <a:noFill/>
          </a:ln>
        </p:spPr>
        <p:txBody>
          <a:bodyPr wrap="square">
            <a:spAutoFit/>
          </a:bodyPr>
          <a:lstStyle/>
          <a:p>
            <a:pPr algn="ctr"/>
            <a:r>
              <a:rPr lang="es-MX" sz="3600" dirty="0">
                <a:solidFill>
                  <a:schemeClr val="bg1"/>
                </a:solidFill>
              </a:rPr>
              <a:t>Definición de competencias, rúbricas, arquitectura funcional y criterios evaluativos</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8" name="CuadroTexto 1467">
            <a:extLst>
              <a:ext uri="{FF2B5EF4-FFF2-40B4-BE49-F238E27FC236}">
                <a16:creationId xmlns:a16="http://schemas.microsoft.com/office/drawing/2014/main" id="{4BFA35AE-ACAD-8BF4-C4C5-C316A38B353B}"/>
              </a:ext>
            </a:extLst>
          </p:cNvPr>
          <p:cNvSpPr txBox="1"/>
          <p:nvPr/>
        </p:nvSpPr>
        <p:spPr>
          <a:xfrm>
            <a:off x="10390794" y="30885602"/>
            <a:ext cx="3216167" cy="2862322"/>
          </a:xfrm>
          <a:prstGeom prst="rect">
            <a:avLst/>
          </a:prstGeom>
          <a:noFill/>
          <a:ln>
            <a:noFill/>
          </a:ln>
        </p:spPr>
        <p:txBody>
          <a:bodyPr wrap="square">
            <a:spAutoFit/>
          </a:bodyPr>
          <a:lstStyle/>
          <a:p>
            <a:pPr algn="ctr"/>
            <a:r>
              <a:rPr lang="es-MX" sz="3600" dirty="0">
                <a:solidFill>
                  <a:schemeClr val="bg1"/>
                </a:solidFill>
              </a:rPr>
              <a:t>Construcción del aplicativo, integración de IA, pruebas técnicas.</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69" name="CuadroTexto 1468">
            <a:extLst>
              <a:ext uri="{FF2B5EF4-FFF2-40B4-BE49-F238E27FC236}">
                <a16:creationId xmlns:a16="http://schemas.microsoft.com/office/drawing/2014/main" id="{B3D34E4A-BD19-53D0-3B7E-C48D2D8CAD66}"/>
              </a:ext>
            </a:extLst>
          </p:cNvPr>
          <p:cNvSpPr txBox="1"/>
          <p:nvPr/>
        </p:nvSpPr>
        <p:spPr>
          <a:xfrm>
            <a:off x="4997488" y="34332759"/>
            <a:ext cx="1592661" cy="646331"/>
          </a:xfrm>
          <a:prstGeom prst="rect">
            <a:avLst/>
          </a:prstGeom>
          <a:noFill/>
          <a:ln>
            <a:noFill/>
          </a:ln>
        </p:spPr>
        <p:txBody>
          <a:bodyPr wrap="square">
            <a:spAutoFit/>
          </a:bodyPr>
          <a:lstStyle/>
          <a:p>
            <a:pPr algn="ctr"/>
            <a:r>
              <a:rPr lang="es-MX" sz="36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Fase 4</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70" name="CuadroTexto 1469">
            <a:extLst>
              <a:ext uri="{FF2B5EF4-FFF2-40B4-BE49-F238E27FC236}">
                <a16:creationId xmlns:a16="http://schemas.microsoft.com/office/drawing/2014/main" id="{845BCD2F-D4AE-0FE9-4700-4F578BADA67A}"/>
              </a:ext>
            </a:extLst>
          </p:cNvPr>
          <p:cNvSpPr txBox="1"/>
          <p:nvPr/>
        </p:nvSpPr>
        <p:spPr>
          <a:xfrm>
            <a:off x="9376389" y="34331983"/>
            <a:ext cx="1538198" cy="646331"/>
          </a:xfrm>
          <a:prstGeom prst="rect">
            <a:avLst/>
          </a:prstGeom>
          <a:noFill/>
          <a:ln>
            <a:noFill/>
          </a:ln>
        </p:spPr>
        <p:txBody>
          <a:bodyPr wrap="square">
            <a:spAutoFit/>
          </a:bodyPr>
          <a:lstStyle/>
          <a:p>
            <a:pPr algn="ctr"/>
            <a:r>
              <a:rPr lang="es-MX" sz="36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Fase 5</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71" name="CuadroTexto 1470">
            <a:extLst>
              <a:ext uri="{FF2B5EF4-FFF2-40B4-BE49-F238E27FC236}">
                <a16:creationId xmlns:a16="http://schemas.microsoft.com/office/drawing/2014/main" id="{C5C84CC8-5689-9957-3596-6D9402112304}"/>
              </a:ext>
            </a:extLst>
          </p:cNvPr>
          <p:cNvSpPr txBox="1"/>
          <p:nvPr/>
        </p:nvSpPr>
        <p:spPr>
          <a:xfrm>
            <a:off x="3933879" y="35326459"/>
            <a:ext cx="3719877" cy="1754326"/>
          </a:xfrm>
          <a:prstGeom prst="rect">
            <a:avLst/>
          </a:prstGeom>
          <a:noFill/>
          <a:ln>
            <a:noFill/>
          </a:ln>
        </p:spPr>
        <p:txBody>
          <a:bodyPr wrap="square">
            <a:spAutoFit/>
          </a:bodyPr>
          <a:lstStyle/>
          <a:p>
            <a:pPr algn="ctr"/>
            <a:r>
              <a:rPr lang="es-MX" sz="3600" dirty="0">
                <a:solidFill>
                  <a:schemeClr val="bg1"/>
                </a:solidFill>
              </a:rPr>
              <a:t>Aplicación en simulación clínica con estudiantes.</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73" name="CuadroTexto 1472">
            <a:extLst>
              <a:ext uri="{FF2B5EF4-FFF2-40B4-BE49-F238E27FC236}">
                <a16:creationId xmlns:a16="http://schemas.microsoft.com/office/drawing/2014/main" id="{3AD26890-1E51-2E37-0CE5-FAFDB4177103}"/>
              </a:ext>
            </a:extLst>
          </p:cNvPr>
          <p:cNvSpPr txBox="1"/>
          <p:nvPr/>
        </p:nvSpPr>
        <p:spPr>
          <a:xfrm>
            <a:off x="7929738" y="35289304"/>
            <a:ext cx="4805061" cy="2308324"/>
          </a:xfrm>
          <a:prstGeom prst="rect">
            <a:avLst/>
          </a:prstGeom>
          <a:noFill/>
          <a:ln>
            <a:noFill/>
          </a:ln>
        </p:spPr>
        <p:txBody>
          <a:bodyPr wrap="square">
            <a:spAutoFit/>
          </a:bodyPr>
          <a:lstStyle/>
          <a:p>
            <a:pPr algn="ctr"/>
            <a:r>
              <a:rPr lang="es-MX" sz="3600" dirty="0">
                <a:solidFill>
                  <a:schemeClr val="bg1"/>
                </a:solidFill>
              </a:rPr>
              <a:t>Análisis cuantitativo (consistencia, fiabilidad) y cualitativo (percepción).</a:t>
            </a:r>
            <a:endParaRPr lang="en-US"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1477" name="Rectángulo 1476">
            <a:extLst>
              <a:ext uri="{FF2B5EF4-FFF2-40B4-BE49-F238E27FC236}">
                <a16:creationId xmlns:a16="http://schemas.microsoft.com/office/drawing/2014/main" id="{7F4A585F-DB17-9E81-B1B1-6E14F7F8C2C7}"/>
              </a:ext>
            </a:extLst>
          </p:cNvPr>
          <p:cNvSpPr/>
          <p:nvPr/>
        </p:nvSpPr>
        <p:spPr>
          <a:xfrm>
            <a:off x="1141702" y="25768526"/>
            <a:ext cx="13278464" cy="1243467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1415" name="Rectángulo 1414">
            <a:extLst>
              <a:ext uri="{FF2B5EF4-FFF2-40B4-BE49-F238E27FC236}">
                <a16:creationId xmlns:a16="http://schemas.microsoft.com/office/drawing/2014/main" id="{85134198-7D04-A4EC-0164-2BE2BBCE5F15}"/>
              </a:ext>
            </a:extLst>
          </p:cNvPr>
          <p:cNvSpPr/>
          <p:nvPr/>
        </p:nvSpPr>
        <p:spPr>
          <a:xfrm>
            <a:off x="1141702" y="227096"/>
            <a:ext cx="26339588" cy="8113849"/>
          </a:xfrm>
          <a:prstGeom prst="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Tree>
    <p:extLst>
      <p:ext uri="{BB962C8B-B14F-4D97-AF65-F5344CB8AC3E}">
        <p14:creationId xmlns:p14="http://schemas.microsoft.com/office/powerpoint/2010/main" val="328212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10" grpId="0" animBg="1"/>
      <p:bldP spid="37" grpId="0" animBg="1"/>
      <p:bldP spid="27" grpId="0" animBg="1"/>
    </p:bldLst>
  </p:timing>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2492</TotalTime>
  <Words>732</Words>
  <Application>Microsoft Office PowerPoint</Application>
  <PresentationFormat>Personalizado</PresentationFormat>
  <Paragraphs>61</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Segoe UI</vt:lpstr>
      <vt:lpstr>Office 2013 - Tema de 2022</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Ana Cristina Mafla Chamorro</dc:creator>
  <cp:lastModifiedBy>Maria Victoria Arteaga Revelo</cp:lastModifiedBy>
  <cp:revision>147</cp:revision>
  <dcterms:created xsi:type="dcterms:W3CDTF">2024-02-01T17:05:04Z</dcterms:created>
  <dcterms:modified xsi:type="dcterms:W3CDTF">2026-03-24T14:58:01Z</dcterms:modified>
</cp:coreProperties>
</file>