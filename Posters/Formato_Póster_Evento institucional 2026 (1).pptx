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28800425" cy="503999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00"/>
    <a:srgbClr val="008080"/>
    <a:srgbClr val="00CC99"/>
    <a:srgbClr val="EFFFFF"/>
    <a:srgbClr val="C9FFFF"/>
    <a:srgbClr val="FF5B5B"/>
    <a:srgbClr val="00FA00"/>
    <a:srgbClr val="00CC00"/>
    <a:srgbClr val="A4D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20" autoAdjust="0"/>
  </p:normalViewPr>
  <p:slideViewPr>
    <p:cSldViewPr snapToGrid="0">
      <p:cViewPr>
        <p:scale>
          <a:sx n="50" d="100"/>
          <a:sy n="50" d="100"/>
        </p:scale>
        <p:origin x="294" y="-8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160032" y="8248329"/>
            <a:ext cx="24480361" cy="17546649"/>
          </a:xfrm>
        </p:spPr>
        <p:txBody>
          <a:bodyPr anchor="b"/>
          <a:lstStyle>
            <a:lvl1pPr algn="ctr">
              <a:defRPr sz="18898"/>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600053" y="26471644"/>
            <a:ext cx="21600319" cy="12168318"/>
          </a:xfrm>
        </p:spPr>
        <p:txBody>
          <a:bodyPr/>
          <a:lstStyle>
            <a:lvl1pPr marL="0" indent="0" algn="ctr">
              <a:buNone/>
              <a:defRPr sz="7559"/>
            </a:lvl1pPr>
            <a:lvl2pPr marL="1440043" indent="0" algn="ctr">
              <a:buNone/>
              <a:defRPr sz="6299"/>
            </a:lvl2pPr>
            <a:lvl3pPr marL="2880086" indent="0" algn="ctr">
              <a:buNone/>
              <a:defRPr sz="5669"/>
            </a:lvl3pPr>
            <a:lvl4pPr marL="4320129" indent="0" algn="ctr">
              <a:buNone/>
              <a:defRPr sz="5040"/>
            </a:lvl4pPr>
            <a:lvl5pPr marL="5760171" indent="0" algn="ctr">
              <a:buNone/>
              <a:defRPr sz="5040"/>
            </a:lvl5pPr>
            <a:lvl6pPr marL="7200214" indent="0" algn="ctr">
              <a:buNone/>
              <a:defRPr sz="5040"/>
            </a:lvl6pPr>
            <a:lvl7pPr marL="8640257" indent="0" algn="ctr">
              <a:buNone/>
              <a:defRPr sz="5040"/>
            </a:lvl7pPr>
            <a:lvl8pPr marL="10080300" indent="0" algn="ctr">
              <a:buNone/>
              <a:defRPr sz="5040"/>
            </a:lvl8pPr>
            <a:lvl9pPr marL="11520343" indent="0" algn="ctr">
              <a:buNone/>
              <a:defRPr sz="504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25/03/2026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3689820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25/03/2026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727501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65030" y="12565002"/>
            <a:ext cx="24840367" cy="20964976"/>
          </a:xfrm>
        </p:spPr>
        <p:txBody>
          <a:bodyPr anchor="b"/>
          <a:lstStyle>
            <a:lvl1pPr>
              <a:defRPr sz="18898"/>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65030" y="33728315"/>
            <a:ext cx="24840367" cy="11024985"/>
          </a:xfrm>
        </p:spPr>
        <p:txBody>
          <a:bodyPr/>
          <a:lstStyle>
            <a:lvl1pPr marL="0" indent="0">
              <a:buNone/>
              <a:defRPr sz="7559">
                <a:solidFill>
                  <a:schemeClr val="tx1"/>
                </a:solidFill>
              </a:defRPr>
            </a:lvl1pPr>
            <a:lvl2pPr marL="1440043" indent="0">
              <a:buNone/>
              <a:defRPr sz="6299">
                <a:solidFill>
                  <a:schemeClr val="tx1">
                    <a:tint val="75000"/>
                  </a:schemeClr>
                </a:solidFill>
              </a:defRPr>
            </a:lvl2pPr>
            <a:lvl3pPr marL="2880086" indent="0">
              <a:buNone/>
              <a:defRPr sz="5669">
                <a:solidFill>
                  <a:schemeClr val="tx1">
                    <a:tint val="75000"/>
                  </a:schemeClr>
                </a:solidFill>
              </a:defRPr>
            </a:lvl3pPr>
            <a:lvl4pPr marL="4320129" indent="0">
              <a:buNone/>
              <a:defRPr sz="5040">
                <a:solidFill>
                  <a:schemeClr val="tx1">
                    <a:tint val="75000"/>
                  </a:schemeClr>
                </a:solidFill>
              </a:defRPr>
            </a:lvl4pPr>
            <a:lvl5pPr marL="5760171" indent="0">
              <a:buNone/>
              <a:defRPr sz="5040">
                <a:solidFill>
                  <a:schemeClr val="tx1">
                    <a:tint val="75000"/>
                  </a:schemeClr>
                </a:solidFill>
              </a:defRPr>
            </a:lvl5pPr>
            <a:lvl6pPr marL="7200214" indent="0">
              <a:buNone/>
              <a:defRPr sz="5040">
                <a:solidFill>
                  <a:schemeClr val="tx1">
                    <a:tint val="75000"/>
                  </a:schemeClr>
                </a:solidFill>
              </a:defRPr>
            </a:lvl6pPr>
            <a:lvl7pPr marL="8640257" indent="0">
              <a:buNone/>
              <a:defRPr sz="5040">
                <a:solidFill>
                  <a:schemeClr val="tx1">
                    <a:tint val="75000"/>
                  </a:schemeClr>
                </a:solidFill>
              </a:defRPr>
            </a:lvl7pPr>
            <a:lvl8pPr marL="10080300" indent="0">
              <a:buNone/>
              <a:defRPr sz="5040">
                <a:solidFill>
                  <a:schemeClr val="tx1">
                    <a:tint val="75000"/>
                  </a:schemeClr>
                </a:solidFill>
              </a:defRPr>
            </a:lvl8pPr>
            <a:lvl9pPr marL="11520343" indent="0">
              <a:buNone/>
              <a:defRPr sz="504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746F2E5-429B-4F16-9E42-EE6AF44C5AF0}" type="datetimeFigureOut">
              <a:rPr lang="es-MX" smtClean="0"/>
              <a:t>25/03/2026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986705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80029" y="13416653"/>
            <a:ext cx="12240181" cy="3197830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4580215" y="13416653"/>
            <a:ext cx="12240181" cy="3197830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746F2E5-429B-4F16-9E42-EE6AF44C5AF0}" type="datetimeFigureOut">
              <a:rPr lang="es-MX" smtClean="0"/>
              <a:t>25/03/2026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2807976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983780" y="2683342"/>
            <a:ext cx="24840367" cy="97416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3784" y="12354992"/>
            <a:ext cx="12183928" cy="605499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Haga clic para modificar los estilos de texto del patrón</a:t>
            </a:r>
          </a:p>
        </p:txBody>
      </p:sp>
      <p:sp>
        <p:nvSpPr>
          <p:cNvPr id="4" name="Content Placeholder 3"/>
          <p:cNvSpPr>
            <a:spLocks noGrp="1"/>
          </p:cNvSpPr>
          <p:nvPr>
            <p:ph sz="half" idx="2"/>
          </p:nvPr>
        </p:nvSpPr>
        <p:spPr>
          <a:xfrm>
            <a:off x="1983784" y="18409982"/>
            <a:ext cx="12183928" cy="2707831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4580217" y="12354992"/>
            <a:ext cx="12243932" cy="605499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Haga clic para modificar los estilos de texto del patrón</a:t>
            </a:r>
          </a:p>
        </p:txBody>
      </p:sp>
      <p:sp>
        <p:nvSpPr>
          <p:cNvPr id="6" name="Content Placeholder 5"/>
          <p:cNvSpPr>
            <a:spLocks noGrp="1"/>
          </p:cNvSpPr>
          <p:nvPr>
            <p:ph sz="quarter" idx="4"/>
          </p:nvPr>
        </p:nvSpPr>
        <p:spPr>
          <a:xfrm>
            <a:off x="14580217" y="18409982"/>
            <a:ext cx="12243932" cy="2707831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746F2E5-429B-4F16-9E42-EE6AF44C5AF0}" type="datetimeFigureOut">
              <a:rPr lang="es-MX" smtClean="0"/>
              <a:t>25/03/2026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390850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746F2E5-429B-4F16-9E42-EE6AF44C5AF0}" type="datetimeFigureOut">
              <a:rPr lang="es-MX" smtClean="0"/>
              <a:t>25/03/2026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223878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46F2E5-429B-4F16-9E42-EE6AF44C5AF0}" type="datetimeFigureOut">
              <a:rPr lang="es-MX" smtClean="0"/>
              <a:t>25/03/2026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253433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359997"/>
            <a:ext cx="9288887" cy="11759988"/>
          </a:xfrm>
        </p:spPr>
        <p:txBody>
          <a:bodyPr anchor="b"/>
          <a:lstStyle>
            <a:lvl1pPr>
              <a:defRPr sz="10079"/>
            </a:lvl1pPr>
          </a:lstStyle>
          <a:p>
            <a:r>
              <a:rPr lang="es-ES"/>
              <a:t>Haga clic para modificar el estilo de título del patrón</a:t>
            </a:r>
            <a:endParaRPr lang="en-US" dirty="0"/>
          </a:p>
        </p:txBody>
      </p:sp>
      <p:sp>
        <p:nvSpPr>
          <p:cNvPr id="3" name="Content Placeholder 2"/>
          <p:cNvSpPr>
            <a:spLocks noGrp="1"/>
          </p:cNvSpPr>
          <p:nvPr>
            <p:ph idx="1"/>
          </p:nvPr>
        </p:nvSpPr>
        <p:spPr>
          <a:xfrm>
            <a:off x="12243932" y="7256671"/>
            <a:ext cx="14580215" cy="35816631"/>
          </a:xfrm>
        </p:spPr>
        <p:txBody>
          <a:bodyPr/>
          <a:lstStyle>
            <a:lvl1pPr>
              <a:defRPr sz="10079"/>
            </a:lvl1pPr>
            <a:lvl2pPr>
              <a:defRPr sz="8819"/>
            </a:lvl2pPr>
            <a:lvl3pPr>
              <a:defRPr sz="7559"/>
            </a:lvl3pPr>
            <a:lvl4pPr>
              <a:defRPr sz="6299"/>
            </a:lvl4pPr>
            <a:lvl5pPr>
              <a:defRPr sz="6299"/>
            </a:lvl5pPr>
            <a:lvl6pPr>
              <a:defRPr sz="6299"/>
            </a:lvl6pPr>
            <a:lvl7pPr>
              <a:defRPr sz="6299"/>
            </a:lvl7pPr>
            <a:lvl8pPr>
              <a:defRPr sz="6299"/>
            </a:lvl8pPr>
            <a:lvl9pPr>
              <a:defRPr sz="6299"/>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83780" y="15119985"/>
            <a:ext cx="9288887" cy="28011643"/>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746F2E5-429B-4F16-9E42-EE6AF44C5AF0}" type="datetimeFigureOut">
              <a:rPr lang="es-MX" smtClean="0"/>
              <a:t>25/03/2026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379996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359997"/>
            <a:ext cx="9288887" cy="11759988"/>
          </a:xfrm>
        </p:spPr>
        <p:txBody>
          <a:bodyPr anchor="b"/>
          <a:lstStyle>
            <a:lvl1pPr>
              <a:defRPr sz="10079"/>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243932" y="7256671"/>
            <a:ext cx="14580215" cy="35816631"/>
          </a:xfrm>
        </p:spPr>
        <p:txBody>
          <a:bodyPr anchor="t"/>
          <a:lstStyle>
            <a:lvl1pPr marL="0" indent="0">
              <a:buNone/>
              <a:defRPr sz="10079"/>
            </a:lvl1pPr>
            <a:lvl2pPr marL="1440043" indent="0">
              <a:buNone/>
              <a:defRPr sz="8819"/>
            </a:lvl2pPr>
            <a:lvl3pPr marL="2880086" indent="0">
              <a:buNone/>
              <a:defRPr sz="7559"/>
            </a:lvl3pPr>
            <a:lvl4pPr marL="4320129" indent="0">
              <a:buNone/>
              <a:defRPr sz="6299"/>
            </a:lvl4pPr>
            <a:lvl5pPr marL="5760171" indent="0">
              <a:buNone/>
              <a:defRPr sz="6299"/>
            </a:lvl5pPr>
            <a:lvl6pPr marL="7200214" indent="0">
              <a:buNone/>
              <a:defRPr sz="6299"/>
            </a:lvl6pPr>
            <a:lvl7pPr marL="8640257" indent="0">
              <a:buNone/>
              <a:defRPr sz="6299"/>
            </a:lvl7pPr>
            <a:lvl8pPr marL="10080300" indent="0">
              <a:buNone/>
              <a:defRPr sz="6299"/>
            </a:lvl8pPr>
            <a:lvl9pPr marL="11520343" indent="0">
              <a:buNone/>
              <a:defRPr sz="6299"/>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83780" y="15119985"/>
            <a:ext cx="9288887" cy="28011643"/>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746F2E5-429B-4F16-9E42-EE6AF44C5AF0}" type="datetimeFigureOut">
              <a:rPr lang="es-MX" smtClean="0"/>
              <a:t>25/03/2026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1564558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25/03/2026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2957066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6" y="2683331"/>
            <a:ext cx="6210092" cy="4271162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80031" y="2683331"/>
            <a:ext cx="18270270" cy="4271162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746F2E5-429B-4F16-9E42-EE6AF44C5AF0}" type="datetimeFigureOut">
              <a:rPr lang="es-MX" smtClean="0"/>
              <a:t>25/03/2026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4CFCCDE-60FC-4FB7-A81D-F9755E057F0C}" type="slidenum">
              <a:rPr lang="es-MX" smtClean="0"/>
              <a:t>‹Nº›</a:t>
            </a:fld>
            <a:endParaRPr lang="es-MX"/>
          </a:p>
        </p:txBody>
      </p:sp>
    </p:spTree>
    <p:extLst>
      <p:ext uri="{BB962C8B-B14F-4D97-AF65-F5344CB8AC3E}">
        <p14:creationId xmlns:p14="http://schemas.microsoft.com/office/powerpoint/2010/main" val="307044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2683342"/>
            <a:ext cx="24840367" cy="974166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0029" y="13416653"/>
            <a:ext cx="24840367" cy="3197830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980029" y="46713298"/>
            <a:ext cx="6480096" cy="2683331"/>
          </a:xfrm>
          <a:prstGeom prst="rect">
            <a:avLst/>
          </a:prstGeom>
        </p:spPr>
        <p:txBody>
          <a:bodyPr vert="horz" lIns="91440" tIns="45720" rIns="91440" bIns="45720" rtlCol="0" anchor="ctr"/>
          <a:lstStyle>
            <a:lvl1pPr algn="l">
              <a:defRPr sz="3780">
                <a:solidFill>
                  <a:schemeClr val="tx1">
                    <a:tint val="75000"/>
                  </a:schemeClr>
                </a:solidFill>
              </a:defRPr>
            </a:lvl1pPr>
          </a:lstStyle>
          <a:p>
            <a:fld id="{1746F2E5-429B-4F16-9E42-EE6AF44C5AF0}" type="datetimeFigureOut">
              <a:rPr lang="es-MX" smtClean="0"/>
              <a:t>25/03/2026</a:t>
            </a:fld>
            <a:endParaRPr lang="es-MX"/>
          </a:p>
        </p:txBody>
      </p:sp>
      <p:sp>
        <p:nvSpPr>
          <p:cNvPr id="5" name="Footer Placeholder 4"/>
          <p:cNvSpPr>
            <a:spLocks noGrp="1"/>
          </p:cNvSpPr>
          <p:nvPr>
            <p:ph type="ftr" sz="quarter" idx="3"/>
          </p:nvPr>
        </p:nvSpPr>
        <p:spPr>
          <a:xfrm>
            <a:off x="9540141" y="46713298"/>
            <a:ext cx="9720143" cy="2683331"/>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20340300" y="46713298"/>
            <a:ext cx="6480096" cy="2683331"/>
          </a:xfrm>
          <a:prstGeom prst="rect">
            <a:avLst/>
          </a:prstGeom>
        </p:spPr>
        <p:txBody>
          <a:bodyPr vert="horz" lIns="91440" tIns="45720" rIns="91440" bIns="45720" rtlCol="0" anchor="ctr"/>
          <a:lstStyle>
            <a:lvl1pPr algn="r">
              <a:defRPr sz="3780">
                <a:solidFill>
                  <a:schemeClr val="tx1">
                    <a:tint val="75000"/>
                  </a:schemeClr>
                </a:solidFill>
              </a:defRPr>
            </a:lvl1pPr>
          </a:lstStyle>
          <a:p>
            <a:fld id="{54CFCCDE-60FC-4FB7-A81D-F9755E057F0C}" type="slidenum">
              <a:rPr lang="es-MX" smtClean="0"/>
              <a:t>‹Nº›</a:t>
            </a:fld>
            <a:endParaRPr lang="es-MX"/>
          </a:p>
        </p:txBody>
      </p:sp>
    </p:spTree>
    <p:extLst>
      <p:ext uri="{BB962C8B-B14F-4D97-AF65-F5344CB8AC3E}">
        <p14:creationId xmlns:p14="http://schemas.microsoft.com/office/powerpoint/2010/main" val="373557709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880086" rtl="0" eaLnBrk="1" latinLnBrk="0" hangingPunct="1">
        <a:lnSpc>
          <a:spcPct val="90000"/>
        </a:lnSpc>
        <a:spcBef>
          <a:spcPct val="0"/>
        </a:spcBef>
        <a:buNone/>
        <a:defRPr sz="13859" kern="1200">
          <a:solidFill>
            <a:schemeClr val="tx1"/>
          </a:solidFill>
          <a:latin typeface="+mj-lt"/>
          <a:ea typeface="+mj-ea"/>
          <a:cs typeface="+mj-cs"/>
        </a:defRPr>
      </a:lvl1pPr>
    </p:titleStyle>
    <p:bodyStyle>
      <a:lvl1pPr marL="720021" indent="-720021" algn="l" defTabSz="2880086" rtl="0" eaLnBrk="1" latinLnBrk="0" hangingPunct="1">
        <a:lnSpc>
          <a:spcPct val="90000"/>
        </a:lnSpc>
        <a:spcBef>
          <a:spcPts val="3150"/>
        </a:spcBef>
        <a:buFont typeface="Arial" panose="020B0604020202020204" pitchFamily="34" charset="0"/>
        <a:buChar char="•"/>
        <a:defRPr sz="8819" kern="1200">
          <a:solidFill>
            <a:schemeClr val="tx1"/>
          </a:solidFill>
          <a:latin typeface="+mn-lt"/>
          <a:ea typeface="+mn-ea"/>
          <a:cs typeface="+mn-cs"/>
        </a:defRPr>
      </a:lvl1pPr>
      <a:lvl2pPr marL="2160064" indent="-720021" algn="l" defTabSz="2880086" rtl="0" eaLnBrk="1" latinLnBrk="0" hangingPunct="1">
        <a:lnSpc>
          <a:spcPct val="90000"/>
        </a:lnSpc>
        <a:spcBef>
          <a:spcPts val="1575"/>
        </a:spcBef>
        <a:buFont typeface="Arial" panose="020B0604020202020204" pitchFamily="34" charset="0"/>
        <a:buChar char="•"/>
        <a:defRPr sz="7559" kern="1200">
          <a:solidFill>
            <a:schemeClr val="tx1"/>
          </a:solidFill>
          <a:latin typeface="+mn-lt"/>
          <a:ea typeface="+mn-ea"/>
          <a:cs typeface="+mn-cs"/>
        </a:defRPr>
      </a:lvl2pPr>
      <a:lvl3pPr marL="3600107" indent="-720021" algn="l" defTabSz="2880086" rtl="0" eaLnBrk="1" latinLnBrk="0" hangingPunct="1">
        <a:lnSpc>
          <a:spcPct val="90000"/>
        </a:lnSpc>
        <a:spcBef>
          <a:spcPts val="1575"/>
        </a:spcBef>
        <a:buFont typeface="Arial" panose="020B0604020202020204" pitchFamily="34" charset="0"/>
        <a:buChar char="•"/>
        <a:defRPr sz="6299" kern="1200">
          <a:solidFill>
            <a:schemeClr val="tx1"/>
          </a:solidFill>
          <a:latin typeface="+mn-lt"/>
          <a:ea typeface="+mn-ea"/>
          <a:cs typeface="+mn-cs"/>
        </a:defRPr>
      </a:lvl3pPr>
      <a:lvl4pPr marL="5040150"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4pPr>
      <a:lvl5pPr marL="6480193"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5pPr>
      <a:lvl6pPr marL="7920236"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6pPr>
      <a:lvl7pPr marL="9360278"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7pPr>
      <a:lvl8pPr marL="10800321"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8pPr>
      <a:lvl9pPr marL="12240364"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9pPr>
    </p:bodyStyle>
    <p:otherStyle>
      <a:defPPr>
        <a:defRPr lang="en-US"/>
      </a:defPPr>
      <a:lvl1pPr marL="0" algn="l" defTabSz="2880086" rtl="0" eaLnBrk="1" latinLnBrk="0" hangingPunct="1">
        <a:defRPr sz="5669" kern="1200">
          <a:solidFill>
            <a:schemeClr val="tx1"/>
          </a:solidFill>
          <a:latin typeface="+mn-lt"/>
          <a:ea typeface="+mn-ea"/>
          <a:cs typeface="+mn-cs"/>
        </a:defRPr>
      </a:lvl1pPr>
      <a:lvl2pPr marL="1440043" algn="l" defTabSz="2880086" rtl="0" eaLnBrk="1" latinLnBrk="0" hangingPunct="1">
        <a:defRPr sz="5669" kern="1200">
          <a:solidFill>
            <a:schemeClr val="tx1"/>
          </a:solidFill>
          <a:latin typeface="+mn-lt"/>
          <a:ea typeface="+mn-ea"/>
          <a:cs typeface="+mn-cs"/>
        </a:defRPr>
      </a:lvl2pPr>
      <a:lvl3pPr marL="2880086" algn="l" defTabSz="2880086" rtl="0" eaLnBrk="1" latinLnBrk="0" hangingPunct="1">
        <a:defRPr sz="5669" kern="1200">
          <a:solidFill>
            <a:schemeClr val="tx1"/>
          </a:solidFill>
          <a:latin typeface="+mn-lt"/>
          <a:ea typeface="+mn-ea"/>
          <a:cs typeface="+mn-cs"/>
        </a:defRPr>
      </a:lvl3pPr>
      <a:lvl4pPr marL="4320129" algn="l" defTabSz="2880086" rtl="0" eaLnBrk="1" latinLnBrk="0" hangingPunct="1">
        <a:defRPr sz="5669" kern="1200">
          <a:solidFill>
            <a:schemeClr val="tx1"/>
          </a:solidFill>
          <a:latin typeface="+mn-lt"/>
          <a:ea typeface="+mn-ea"/>
          <a:cs typeface="+mn-cs"/>
        </a:defRPr>
      </a:lvl4pPr>
      <a:lvl5pPr marL="5760171" algn="l" defTabSz="2880086" rtl="0" eaLnBrk="1" latinLnBrk="0" hangingPunct="1">
        <a:defRPr sz="5669" kern="1200">
          <a:solidFill>
            <a:schemeClr val="tx1"/>
          </a:solidFill>
          <a:latin typeface="+mn-lt"/>
          <a:ea typeface="+mn-ea"/>
          <a:cs typeface="+mn-cs"/>
        </a:defRPr>
      </a:lvl5pPr>
      <a:lvl6pPr marL="7200214" algn="l" defTabSz="2880086" rtl="0" eaLnBrk="1" latinLnBrk="0" hangingPunct="1">
        <a:defRPr sz="5669" kern="1200">
          <a:solidFill>
            <a:schemeClr val="tx1"/>
          </a:solidFill>
          <a:latin typeface="+mn-lt"/>
          <a:ea typeface="+mn-ea"/>
          <a:cs typeface="+mn-cs"/>
        </a:defRPr>
      </a:lvl6pPr>
      <a:lvl7pPr marL="8640257" algn="l" defTabSz="2880086" rtl="0" eaLnBrk="1" latinLnBrk="0" hangingPunct="1">
        <a:defRPr sz="5669" kern="1200">
          <a:solidFill>
            <a:schemeClr val="tx1"/>
          </a:solidFill>
          <a:latin typeface="+mn-lt"/>
          <a:ea typeface="+mn-ea"/>
          <a:cs typeface="+mn-cs"/>
        </a:defRPr>
      </a:lvl7pPr>
      <a:lvl8pPr marL="10080300" algn="l" defTabSz="2880086" rtl="0" eaLnBrk="1" latinLnBrk="0" hangingPunct="1">
        <a:defRPr sz="5669" kern="1200">
          <a:solidFill>
            <a:schemeClr val="tx1"/>
          </a:solidFill>
          <a:latin typeface="+mn-lt"/>
          <a:ea typeface="+mn-ea"/>
          <a:cs typeface="+mn-cs"/>
        </a:defRPr>
      </a:lvl8pPr>
      <a:lvl9pPr marL="11520343" algn="l" defTabSz="2880086" rtl="0" eaLnBrk="1" latinLnBrk="0" hangingPunct="1">
        <a:defRPr sz="56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ángulo 39">
            <a:extLst>
              <a:ext uri="{FF2B5EF4-FFF2-40B4-BE49-F238E27FC236}">
                <a16:creationId xmlns:a16="http://schemas.microsoft.com/office/drawing/2014/main" id="{4B6E3874-6B06-BE5B-0FB4-5DC1FA48E93C}"/>
              </a:ext>
            </a:extLst>
          </p:cNvPr>
          <p:cNvSpPr/>
          <p:nvPr/>
        </p:nvSpPr>
        <p:spPr>
          <a:xfrm>
            <a:off x="1118709" y="38917292"/>
            <a:ext cx="26461408" cy="562174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28" name="Rectángulo 27">
            <a:extLst>
              <a:ext uri="{FF2B5EF4-FFF2-40B4-BE49-F238E27FC236}">
                <a16:creationId xmlns:a16="http://schemas.microsoft.com/office/drawing/2014/main" id="{4D4183C7-2A21-49EF-66EB-D204048D4450}"/>
              </a:ext>
            </a:extLst>
          </p:cNvPr>
          <p:cNvSpPr/>
          <p:nvPr/>
        </p:nvSpPr>
        <p:spPr>
          <a:xfrm>
            <a:off x="1122235" y="8552378"/>
            <a:ext cx="26339587" cy="5396447"/>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sp>
        <p:nvSpPr>
          <p:cNvPr id="26" name="Rectángulo 25">
            <a:extLst>
              <a:ext uri="{FF2B5EF4-FFF2-40B4-BE49-F238E27FC236}">
                <a16:creationId xmlns:a16="http://schemas.microsoft.com/office/drawing/2014/main" id="{99BD099B-AEB7-578F-FFA2-D8AA0FFA9702}"/>
              </a:ext>
            </a:extLst>
          </p:cNvPr>
          <p:cNvSpPr/>
          <p:nvPr/>
        </p:nvSpPr>
        <p:spPr>
          <a:xfrm>
            <a:off x="1122234" y="14247495"/>
            <a:ext cx="26339587" cy="567071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sp>
        <p:nvSpPr>
          <p:cNvPr id="11" name="Rectángulo 10">
            <a:extLst>
              <a:ext uri="{FF2B5EF4-FFF2-40B4-BE49-F238E27FC236}">
                <a16:creationId xmlns:a16="http://schemas.microsoft.com/office/drawing/2014/main" id="{156F1E15-3993-E3CB-7571-E515D7EDF796}"/>
              </a:ext>
            </a:extLst>
          </p:cNvPr>
          <p:cNvSpPr/>
          <p:nvPr/>
        </p:nvSpPr>
        <p:spPr>
          <a:xfrm>
            <a:off x="13881" y="2580584"/>
            <a:ext cx="28800425" cy="8013919"/>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sp>
        <p:nvSpPr>
          <p:cNvPr id="9" name="CuadroTexto 8">
            <a:extLst>
              <a:ext uri="{FF2B5EF4-FFF2-40B4-BE49-F238E27FC236}">
                <a16:creationId xmlns:a16="http://schemas.microsoft.com/office/drawing/2014/main" id="{9F3794F8-EA09-48F3-88BD-25E701771468}"/>
              </a:ext>
            </a:extLst>
          </p:cNvPr>
          <p:cNvSpPr txBox="1"/>
          <p:nvPr/>
        </p:nvSpPr>
        <p:spPr>
          <a:xfrm>
            <a:off x="10670065" y="554709"/>
            <a:ext cx="16676317" cy="2823786"/>
          </a:xfrm>
          <a:prstGeom prst="rect">
            <a:avLst/>
          </a:prstGeom>
          <a:noFill/>
        </p:spPr>
        <p:txBody>
          <a:bodyPr wrap="square" rtlCol="0">
            <a:spAutoFit/>
          </a:bodyPr>
          <a:lstStyle/>
          <a:p>
            <a:pPr algn="ctr">
              <a:lnSpc>
                <a:spcPct val="107000"/>
              </a:lnSpc>
              <a:spcAft>
                <a:spcPts val="711"/>
              </a:spcAft>
            </a:pPr>
            <a:r>
              <a:rPr lang="es-MX" sz="4200" b="1" dirty="0"/>
              <a:t>MediEval: Diseño, desarrollo y validación de un aplicativo basado en inteligencia artificial para la evaluación objetiva, estandarizada y formativa de competencias clínicas en estudiantes de medicina mediante simulación clínica</a:t>
            </a:r>
            <a:endParaRPr lang="en-US" sz="4200" b="1" dirty="0">
              <a:latin typeface="Segoe UI" panose="020B0502040204020203" pitchFamily="34" charset="0"/>
              <a:ea typeface="Calibri" panose="020F0502020204030204" pitchFamily="34" charset="0"/>
              <a:cs typeface="Segoe UI" panose="020B0502040204020203" pitchFamily="34" charset="0"/>
            </a:endParaRPr>
          </a:p>
        </p:txBody>
      </p:sp>
      <p:sp>
        <p:nvSpPr>
          <p:cNvPr id="19" name="CuadroTexto 18">
            <a:extLst>
              <a:ext uri="{FF2B5EF4-FFF2-40B4-BE49-F238E27FC236}">
                <a16:creationId xmlns:a16="http://schemas.microsoft.com/office/drawing/2014/main" id="{57944E43-EF13-8F5A-BC13-C271CFFDBD74}"/>
              </a:ext>
            </a:extLst>
          </p:cNvPr>
          <p:cNvSpPr txBox="1"/>
          <p:nvPr/>
        </p:nvSpPr>
        <p:spPr>
          <a:xfrm>
            <a:off x="2517808" y="8903928"/>
            <a:ext cx="24794284" cy="4893647"/>
          </a:xfrm>
          <a:prstGeom prst="rect">
            <a:avLst/>
          </a:prstGeom>
          <a:solidFill>
            <a:schemeClr val="bg1"/>
          </a:solidFill>
          <a:ln>
            <a:noFill/>
          </a:ln>
        </p:spPr>
        <p:txBody>
          <a:bodyPr wrap="square">
            <a:spAutoFit/>
          </a:bodyPr>
          <a:lstStyle/>
          <a:p>
            <a:pPr algn="just"/>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Introducción: </a:t>
            </a:r>
          </a:p>
          <a:p>
            <a:pPr algn="just"/>
            <a:r>
              <a:rPr lang="es-MX" sz="3600" dirty="0"/>
              <a:t>La evaluación médica actual requiere objetividad y trazabilidad, pero métodos como el ECOE enfrentan desafíos por la variabilidad interevaluador y la carga administrativa. En Colombia, la falta de herramientas tecnológicas validadas limita la retroalimentación oportuna y el análisis del desempeño necesario para la mejora curricular.</a:t>
            </a:r>
          </a:p>
          <a:p>
            <a:pPr algn="just"/>
            <a:endParaRPr lang="es-MX" sz="2000" dirty="0"/>
          </a:p>
          <a:p>
            <a:pPr algn="just"/>
            <a:r>
              <a:rPr lang="es-MX" sz="3600" dirty="0"/>
              <a:t>MediEval surge como una solución basada en Inteligencia Artificial para estandarizar la evaluación de competencias clínicas. Fundamentado en la Pirámide de Miller, el sistema emplea algoritmos de IA para el análisis de datos y retroalimentación adaptativa. Mediante una metodología de cinco fases bajo estándares ISO 25010, el proyecto busca optimizar recursos institucionales, cerrar brechas científicas y fortalecer la formación de talento humano calificado.</a:t>
            </a:r>
            <a:endPar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44" name="CuadroTexto 43">
            <a:extLst>
              <a:ext uri="{FF2B5EF4-FFF2-40B4-BE49-F238E27FC236}">
                <a16:creationId xmlns:a16="http://schemas.microsoft.com/office/drawing/2014/main" id="{D690BFA5-CD05-C55C-0A79-AB4644723578}"/>
              </a:ext>
            </a:extLst>
          </p:cNvPr>
          <p:cNvSpPr txBox="1"/>
          <p:nvPr/>
        </p:nvSpPr>
        <p:spPr>
          <a:xfrm>
            <a:off x="2687846" y="39284323"/>
            <a:ext cx="24043871" cy="4955203"/>
          </a:xfrm>
          <a:prstGeom prst="rect">
            <a:avLst/>
          </a:prstGeom>
          <a:solidFill>
            <a:schemeClr val="bg1"/>
          </a:solidFill>
          <a:ln>
            <a:noFill/>
          </a:ln>
        </p:spPr>
        <p:txBody>
          <a:bodyPr wrap="square">
            <a:spAutoFit/>
          </a:bodyPr>
          <a:lstStyle/>
          <a:p>
            <a:pPr algn="just"/>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Referencias: </a:t>
            </a:r>
          </a:p>
          <a:p>
            <a:pPr algn="just"/>
            <a:endParaRPr lang="en-US" sz="24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pPr marL="571500" indent="-571500" algn="just">
              <a:buFont typeface="Arial" panose="020B0604020202020204" pitchFamily="34" charset="0"/>
              <a:buChar char="•"/>
            </a:pPr>
            <a:r>
              <a:rPr lang="en-US" sz="2800" dirty="0"/>
              <a:t>Duran-Espinoza, C., et al. (2025). Artificial intelligencebased assessment of feedback quality predicts learner improvement in medical education. Journal of Surgical Education. </a:t>
            </a:r>
          </a:p>
          <a:p>
            <a:pPr marL="571500" indent="-571500" algn="just">
              <a:buFont typeface="Arial" panose="020B0604020202020204" pitchFamily="34" charset="0"/>
              <a:buChar char="•"/>
            </a:pPr>
            <a:r>
              <a:rPr lang="en-US" sz="2800" dirty="0"/>
              <a:t>Díaz-</a:t>
            </a:r>
            <a:r>
              <a:rPr lang="en-US" sz="2800" dirty="0" err="1"/>
              <a:t>Guío</a:t>
            </a:r>
            <a:r>
              <a:rPr lang="en-US" sz="2800" dirty="0"/>
              <a:t>, J. A., et al. (2024). The role of artificial intelligence in education and perioperative care. Colombian Journal of Anesthesiology, 52(1), e001.</a:t>
            </a:r>
          </a:p>
          <a:p>
            <a:pPr marL="571500" indent="-571500" algn="just">
              <a:buFont typeface="Arial" panose="020B0604020202020204" pitchFamily="34" charset="0"/>
              <a:buChar char="•"/>
            </a:pPr>
            <a:r>
              <a:rPr lang="en-US" sz="2800" dirty="0"/>
              <a:t>HealthySimulation. (2025). NeoOSCE: A next-generation method for AI-enhanced clinical skills assessment. </a:t>
            </a:r>
          </a:p>
          <a:p>
            <a:pPr marL="571500" indent="-571500" algn="just">
              <a:buFont typeface="Arial" panose="020B0604020202020204" pitchFamily="34" charset="0"/>
              <a:buChar char="•"/>
            </a:pPr>
            <a:r>
              <a:rPr lang="en-US" sz="2800" dirty="0"/>
              <a:t>Jang, H., et al. (2025). The validity of generative artificial intelligence in evaluating medical students' performance in OSCE. JMIR Formative Research, 9, e79465.</a:t>
            </a:r>
          </a:p>
          <a:p>
            <a:pPr marL="571500" indent="-571500" algn="just">
              <a:buFont typeface="Arial" panose="020B0604020202020204" pitchFamily="34" charset="0"/>
              <a:buChar char="•"/>
            </a:pPr>
            <a:r>
              <a:rPr lang="en-US" sz="2800" dirty="0"/>
              <a:t>Kadar, M., et al. (2024). Artificial intelligence and Objective Structured Clinical Examinations. Journal of Medical Education and Curricular Development, 11, 19.</a:t>
            </a:r>
          </a:p>
          <a:p>
            <a:pPr marL="571500" indent="-571500" algn="just">
              <a:buFont typeface="Arial" panose="020B0604020202020204" pitchFamily="34" charset="0"/>
              <a:buChar char="•"/>
            </a:pPr>
            <a:r>
              <a:rPr lang="en-US" sz="2800" dirty="0"/>
              <a:t>Kim, H., et al. (2024). Using objective structured clinical examination (OSCE) for summative assessment of clinical competence: Validity and reliability evidence. </a:t>
            </a:r>
            <a:r>
              <a:rPr lang="en-US" sz="2800" dirty="0" err="1"/>
              <a:t>Heliyon</a:t>
            </a:r>
            <a:r>
              <a:rPr lang="en-US" sz="2800" dirty="0"/>
              <a:t>, 10(3), e25602.</a:t>
            </a:r>
          </a:p>
          <a:p>
            <a:pPr marL="571500" indent="-571500" algn="just">
              <a:buFont typeface="Arial" panose="020B0604020202020204" pitchFamily="34" charset="0"/>
              <a:buChar char="•"/>
            </a:pPr>
            <a:r>
              <a:rPr lang="en-US" sz="2800" dirty="0"/>
              <a:t>Liu, Y., et al. (2023). Content validity and inter-rater reliability of procedural skill checklists for OSCE. Bali Medical Journal, 12(1), 123130.</a:t>
            </a:r>
          </a:p>
        </p:txBody>
      </p:sp>
      <p:sp>
        <p:nvSpPr>
          <p:cNvPr id="15" name="CuadroTexto 14">
            <a:extLst>
              <a:ext uri="{FF2B5EF4-FFF2-40B4-BE49-F238E27FC236}">
                <a16:creationId xmlns:a16="http://schemas.microsoft.com/office/drawing/2014/main" id="{EA3D2CFA-D1CF-1459-FBCC-061FB575312C}"/>
              </a:ext>
            </a:extLst>
          </p:cNvPr>
          <p:cNvSpPr txBox="1"/>
          <p:nvPr/>
        </p:nvSpPr>
        <p:spPr>
          <a:xfrm>
            <a:off x="10529537" y="6864715"/>
            <a:ext cx="16987458" cy="1107676"/>
          </a:xfrm>
          <a:prstGeom prst="rect">
            <a:avLst/>
          </a:prstGeom>
          <a:noFill/>
        </p:spPr>
        <p:txBody>
          <a:bodyPr wrap="square" rtlCol="0">
            <a:spAutoFit/>
          </a:bodyPr>
          <a:lstStyle/>
          <a:p>
            <a:pPr algn="ctr"/>
            <a:r>
              <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rPr>
              <a:t>Facultad de Ingeniería - Universidad Cooperativa de Colombia - Pasto.</a:t>
            </a:r>
          </a:p>
          <a:p>
            <a:pPr algn="ctr"/>
            <a:r>
              <a:rPr lang="en-US" sz="3198" dirty="0" err="1">
                <a:solidFill>
                  <a:srgbClr val="000000"/>
                </a:solidFill>
                <a:latin typeface="Segoe UI" panose="020B0502040204020203" pitchFamily="34" charset="0"/>
                <a:ea typeface="Times New Roman" panose="02020603050405020304" pitchFamily="18" charset="0"/>
                <a:cs typeface="Segoe UI" panose="020B0502040204020203" pitchFamily="34" charset="0"/>
              </a:rPr>
              <a:t>Ingeniero</a:t>
            </a:r>
            <a:r>
              <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rPr>
              <a:t> de sistemas, Programa de ingeniería de Software, </a:t>
            </a:r>
            <a:r>
              <a:rPr lang="es-CO" sz="3200" dirty="0"/>
              <a:t>Bastidas Ortega Harold</a:t>
            </a:r>
            <a:endParaRPr lang="en-US" sz="3198"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2" name="Rounded Rectangle 12">
            <a:extLst>
              <a:ext uri="{FF2B5EF4-FFF2-40B4-BE49-F238E27FC236}">
                <a16:creationId xmlns:a16="http://schemas.microsoft.com/office/drawing/2014/main" id="{5B9FEE6C-AB01-41E5-29F1-0543280A1AC1}"/>
              </a:ext>
            </a:extLst>
          </p:cNvPr>
          <p:cNvSpPr/>
          <p:nvPr/>
        </p:nvSpPr>
        <p:spPr>
          <a:xfrm>
            <a:off x="1336142" y="9088174"/>
            <a:ext cx="1073441" cy="912125"/>
          </a:xfrm>
          <a:prstGeom prst="roundRect">
            <a:avLst/>
          </a:prstGeom>
          <a:solidFill>
            <a:srgbClr val="99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01</a:t>
            </a:r>
          </a:p>
        </p:txBody>
      </p:sp>
      <p:sp>
        <p:nvSpPr>
          <p:cNvPr id="4" name="Rounded Rectangle 12">
            <a:extLst>
              <a:ext uri="{FF2B5EF4-FFF2-40B4-BE49-F238E27FC236}">
                <a16:creationId xmlns:a16="http://schemas.microsoft.com/office/drawing/2014/main" id="{9E85F223-A06F-CC12-8B41-9EAEE062C634}"/>
              </a:ext>
            </a:extLst>
          </p:cNvPr>
          <p:cNvSpPr/>
          <p:nvPr/>
        </p:nvSpPr>
        <p:spPr>
          <a:xfrm>
            <a:off x="1336143" y="14641394"/>
            <a:ext cx="1073441" cy="9121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02</a:t>
            </a:r>
          </a:p>
        </p:txBody>
      </p:sp>
      <p:sp>
        <p:nvSpPr>
          <p:cNvPr id="5" name="Rounded Rectangle 12">
            <a:extLst>
              <a:ext uri="{FF2B5EF4-FFF2-40B4-BE49-F238E27FC236}">
                <a16:creationId xmlns:a16="http://schemas.microsoft.com/office/drawing/2014/main" id="{041FD9BB-AF7A-4FED-CDAD-A06A053E7561}"/>
              </a:ext>
            </a:extLst>
          </p:cNvPr>
          <p:cNvSpPr/>
          <p:nvPr/>
        </p:nvSpPr>
        <p:spPr>
          <a:xfrm>
            <a:off x="1310569" y="26400886"/>
            <a:ext cx="1073441" cy="9121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04</a:t>
            </a:r>
          </a:p>
        </p:txBody>
      </p:sp>
      <p:sp>
        <p:nvSpPr>
          <p:cNvPr id="10" name="Rounded Rectangle 12">
            <a:extLst>
              <a:ext uri="{FF2B5EF4-FFF2-40B4-BE49-F238E27FC236}">
                <a16:creationId xmlns:a16="http://schemas.microsoft.com/office/drawing/2014/main" id="{407A8EA4-9506-8EDF-2EA3-CC8705BE6101}"/>
              </a:ext>
            </a:extLst>
          </p:cNvPr>
          <p:cNvSpPr/>
          <p:nvPr/>
        </p:nvSpPr>
        <p:spPr>
          <a:xfrm>
            <a:off x="1475994" y="39348539"/>
            <a:ext cx="975856" cy="9121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06</a:t>
            </a:r>
          </a:p>
        </p:txBody>
      </p:sp>
      <p:sp>
        <p:nvSpPr>
          <p:cNvPr id="25" name="Freeform 41">
            <a:extLst>
              <a:ext uri="{FF2B5EF4-FFF2-40B4-BE49-F238E27FC236}">
                <a16:creationId xmlns:a16="http://schemas.microsoft.com/office/drawing/2014/main" id="{D6F07DEB-1D51-8501-01AF-841853538CA4}"/>
              </a:ext>
            </a:extLst>
          </p:cNvPr>
          <p:cNvSpPr>
            <a:spLocks/>
          </p:cNvSpPr>
          <p:nvPr/>
        </p:nvSpPr>
        <p:spPr bwMode="auto">
          <a:xfrm>
            <a:off x="15160978" y="19239885"/>
            <a:ext cx="388226" cy="495021"/>
          </a:xfrm>
          <a:custGeom>
            <a:avLst/>
            <a:gdLst>
              <a:gd name="T0" fmla="*/ 839 w 1485"/>
              <a:gd name="T1" fmla="*/ 4 h 1778"/>
              <a:gd name="T2" fmla="*/ 1008 w 1485"/>
              <a:gd name="T3" fmla="*/ 29 h 1778"/>
              <a:gd name="T4" fmla="*/ 1151 w 1485"/>
              <a:gd name="T5" fmla="*/ 78 h 1778"/>
              <a:gd name="T6" fmla="*/ 1266 w 1485"/>
              <a:gd name="T7" fmla="*/ 150 h 1778"/>
              <a:gd name="T8" fmla="*/ 1356 w 1485"/>
              <a:gd name="T9" fmla="*/ 244 h 1778"/>
              <a:gd name="T10" fmla="*/ 1423 w 1485"/>
              <a:gd name="T11" fmla="*/ 358 h 1778"/>
              <a:gd name="T12" fmla="*/ 1464 w 1485"/>
              <a:gd name="T13" fmla="*/ 492 h 1778"/>
              <a:gd name="T14" fmla="*/ 1483 w 1485"/>
              <a:gd name="T15" fmla="*/ 646 h 1778"/>
              <a:gd name="T16" fmla="*/ 1481 w 1485"/>
              <a:gd name="T17" fmla="*/ 850 h 1778"/>
              <a:gd name="T18" fmla="*/ 1451 w 1485"/>
              <a:gd name="T19" fmla="*/ 1071 h 1778"/>
              <a:gd name="T20" fmla="*/ 1395 w 1485"/>
              <a:gd name="T21" fmla="*/ 1265 h 1778"/>
              <a:gd name="T22" fmla="*/ 1317 w 1485"/>
              <a:gd name="T23" fmla="*/ 1429 h 1778"/>
              <a:gd name="T24" fmla="*/ 1218 w 1485"/>
              <a:gd name="T25" fmla="*/ 1565 h 1778"/>
              <a:gd name="T26" fmla="*/ 1100 w 1485"/>
              <a:gd name="T27" fmla="*/ 1667 h 1778"/>
              <a:gd name="T28" fmla="*/ 968 w 1485"/>
              <a:gd name="T29" fmla="*/ 1737 h 1778"/>
              <a:gd name="T30" fmla="*/ 821 w 1485"/>
              <a:gd name="T31" fmla="*/ 1775 h 1778"/>
              <a:gd name="T32" fmla="*/ 666 w 1485"/>
              <a:gd name="T33" fmla="*/ 1775 h 1778"/>
              <a:gd name="T34" fmla="*/ 519 w 1485"/>
              <a:gd name="T35" fmla="*/ 1737 h 1778"/>
              <a:gd name="T36" fmla="*/ 387 w 1485"/>
              <a:gd name="T37" fmla="*/ 1667 h 1778"/>
              <a:gd name="T38" fmla="*/ 269 w 1485"/>
              <a:gd name="T39" fmla="*/ 1565 h 1778"/>
              <a:gd name="T40" fmla="*/ 170 w 1485"/>
              <a:gd name="T41" fmla="*/ 1429 h 1778"/>
              <a:gd name="T42" fmla="*/ 92 w 1485"/>
              <a:gd name="T43" fmla="*/ 1265 h 1778"/>
              <a:gd name="T44" fmla="*/ 36 w 1485"/>
              <a:gd name="T45" fmla="*/ 1071 h 1778"/>
              <a:gd name="T46" fmla="*/ 6 w 1485"/>
              <a:gd name="T47" fmla="*/ 850 h 1778"/>
              <a:gd name="T48" fmla="*/ 2 w 1485"/>
              <a:gd name="T49" fmla="*/ 646 h 1778"/>
              <a:gd name="T50" fmla="*/ 23 w 1485"/>
              <a:gd name="T51" fmla="*/ 492 h 1778"/>
              <a:gd name="T52" fmla="*/ 64 w 1485"/>
              <a:gd name="T53" fmla="*/ 358 h 1778"/>
              <a:gd name="T54" fmla="*/ 131 w 1485"/>
              <a:gd name="T55" fmla="*/ 244 h 1778"/>
              <a:gd name="T56" fmla="*/ 221 w 1485"/>
              <a:gd name="T57" fmla="*/ 150 h 1778"/>
              <a:gd name="T58" fmla="*/ 336 w 1485"/>
              <a:gd name="T59" fmla="*/ 78 h 1778"/>
              <a:gd name="T60" fmla="*/ 479 w 1485"/>
              <a:gd name="T61" fmla="*/ 29 h 1778"/>
              <a:gd name="T62" fmla="*/ 648 w 1485"/>
              <a:gd name="T63" fmla="*/ 4 h 1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85" h="1778">
                <a:moveTo>
                  <a:pt x="743" y="0"/>
                </a:moveTo>
                <a:lnTo>
                  <a:pt x="839" y="4"/>
                </a:lnTo>
                <a:lnTo>
                  <a:pt x="927" y="13"/>
                </a:lnTo>
                <a:lnTo>
                  <a:pt x="1008" y="29"/>
                </a:lnTo>
                <a:lnTo>
                  <a:pt x="1084" y="50"/>
                </a:lnTo>
                <a:lnTo>
                  <a:pt x="1151" y="78"/>
                </a:lnTo>
                <a:lnTo>
                  <a:pt x="1213" y="111"/>
                </a:lnTo>
                <a:lnTo>
                  <a:pt x="1266" y="150"/>
                </a:lnTo>
                <a:lnTo>
                  <a:pt x="1315" y="194"/>
                </a:lnTo>
                <a:lnTo>
                  <a:pt x="1356" y="244"/>
                </a:lnTo>
                <a:lnTo>
                  <a:pt x="1393" y="298"/>
                </a:lnTo>
                <a:lnTo>
                  <a:pt x="1423" y="358"/>
                </a:lnTo>
                <a:lnTo>
                  <a:pt x="1446" y="424"/>
                </a:lnTo>
                <a:lnTo>
                  <a:pt x="1464" y="492"/>
                </a:lnTo>
                <a:lnTo>
                  <a:pt x="1476" y="566"/>
                </a:lnTo>
                <a:lnTo>
                  <a:pt x="1483" y="646"/>
                </a:lnTo>
                <a:lnTo>
                  <a:pt x="1485" y="729"/>
                </a:lnTo>
                <a:lnTo>
                  <a:pt x="1481" y="850"/>
                </a:lnTo>
                <a:lnTo>
                  <a:pt x="1469" y="963"/>
                </a:lnTo>
                <a:lnTo>
                  <a:pt x="1451" y="1071"/>
                </a:lnTo>
                <a:lnTo>
                  <a:pt x="1427" y="1171"/>
                </a:lnTo>
                <a:lnTo>
                  <a:pt x="1395" y="1265"/>
                </a:lnTo>
                <a:lnTo>
                  <a:pt x="1360" y="1349"/>
                </a:lnTo>
                <a:lnTo>
                  <a:pt x="1317" y="1429"/>
                </a:lnTo>
                <a:lnTo>
                  <a:pt x="1270" y="1501"/>
                </a:lnTo>
                <a:lnTo>
                  <a:pt x="1218" y="1565"/>
                </a:lnTo>
                <a:lnTo>
                  <a:pt x="1162" y="1619"/>
                </a:lnTo>
                <a:lnTo>
                  <a:pt x="1100" y="1667"/>
                </a:lnTo>
                <a:lnTo>
                  <a:pt x="1037" y="1707"/>
                </a:lnTo>
                <a:lnTo>
                  <a:pt x="968" y="1737"/>
                </a:lnTo>
                <a:lnTo>
                  <a:pt x="895" y="1760"/>
                </a:lnTo>
                <a:lnTo>
                  <a:pt x="821" y="1775"/>
                </a:lnTo>
                <a:lnTo>
                  <a:pt x="743" y="1778"/>
                </a:lnTo>
                <a:lnTo>
                  <a:pt x="666" y="1775"/>
                </a:lnTo>
                <a:lnTo>
                  <a:pt x="592" y="1760"/>
                </a:lnTo>
                <a:lnTo>
                  <a:pt x="519" y="1737"/>
                </a:lnTo>
                <a:lnTo>
                  <a:pt x="450" y="1707"/>
                </a:lnTo>
                <a:lnTo>
                  <a:pt x="387" y="1667"/>
                </a:lnTo>
                <a:lnTo>
                  <a:pt x="325" y="1619"/>
                </a:lnTo>
                <a:lnTo>
                  <a:pt x="269" y="1565"/>
                </a:lnTo>
                <a:lnTo>
                  <a:pt x="217" y="1501"/>
                </a:lnTo>
                <a:lnTo>
                  <a:pt x="170" y="1429"/>
                </a:lnTo>
                <a:lnTo>
                  <a:pt x="127" y="1349"/>
                </a:lnTo>
                <a:lnTo>
                  <a:pt x="92" y="1265"/>
                </a:lnTo>
                <a:lnTo>
                  <a:pt x="60" y="1171"/>
                </a:lnTo>
                <a:lnTo>
                  <a:pt x="36" y="1071"/>
                </a:lnTo>
                <a:lnTo>
                  <a:pt x="18" y="963"/>
                </a:lnTo>
                <a:lnTo>
                  <a:pt x="6" y="850"/>
                </a:lnTo>
                <a:lnTo>
                  <a:pt x="0" y="729"/>
                </a:lnTo>
                <a:lnTo>
                  <a:pt x="2" y="646"/>
                </a:lnTo>
                <a:lnTo>
                  <a:pt x="9" y="566"/>
                </a:lnTo>
                <a:lnTo>
                  <a:pt x="23" y="492"/>
                </a:lnTo>
                <a:lnTo>
                  <a:pt x="41" y="424"/>
                </a:lnTo>
                <a:lnTo>
                  <a:pt x="64" y="358"/>
                </a:lnTo>
                <a:lnTo>
                  <a:pt x="94" y="298"/>
                </a:lnTo>
                <a:lnTo>
                  <a:pt x="131" y="244"/>
                </a:lnTo>
                <a:lnTo>
                  <a:pt x="171" y="194"/>
                </a:lnTo>
                <a:lnTo>
                  <a:pt x="221" y="150"/>
                </a:lnTo>
                <a:lnTo>
                  <a:pt x="274" y="111"/>
                </a:lnTo>
                <a:lnTo>
                  <a:pt x="336" y="78"/>
                </a:lnTo>
                <a:lnTo>
                  <a:pt x="403" y="50"/>
                </a:lnTo>
                <a:lnTo>
                  <a:pt x="479" y="29"/>
                </a:lnTo>
                <a:lnTo>
                  <a:pt x="560" y="13"/>
                </a:lnTo>
                <a:lnTo>
                  <a:pt x="648" y="4"/>
                </a:lnTo>
                <a:lnTo>
                  <a:pt x="743" y="0"/>
                </a:lnTo>
                <a:close/>
              </a:path>
            </a:pathLst>
          </a:custGeom>
          <a:solidFill>
            <a:sysClr val="window" lastClr="FFFFFF"/>
          </a:solidFill>
          <a:ln w="0">
            <a:noFill/>
            <a:prstDash val="solid"/>
            <a:round/>
            <a:headEnd/>
            <a:tailEnd/>
          </a:ln>
        </p:spPr>
        <p:txBody>
          <a:bodyPr vert="horz" wrap="square" lIns="81235" tIns="40618" rIns="81235" bIns="40618" numCol="1" anchor="t" anchorCtr="0" compatLnSpc="1">
            <a:prstTxWarp prst="textNoShape">
              <a:avLst/>
            </a:prstTxWarp>
          </a:bodyPr>
          <a:lstStyle/>
          <a:p>
            <a:pPr defTabSz="812353">
              <a:defRPr/>
            </a:pPr>
            <a:endParaRPr lang="en-US" sz="1599" kern="0">
              <a:solidFill>
                <a:srgbClr val="44546A"/>
              </a:solidFill>
            </a:endParaRPr>
          </a:p>
        </p:txBody>
      </p:sp>
      <p:cxnSp>
        <p:nvCxnSpPr>
          <p:cNvPr id="31" name="Conector recto 30">
            <a:extLst>
              <a:ext uri="{FF2B5EF4-FFF2-40B4-BE49-F238E27FC236}">
                <a16:creationId xmlns:a16="http://schemas.microsoft.com/office/drawing/2014/main" id="{544DE4D5-FC13-3932-FD6F-76DFC77A813A}"/>
              </a:ext>
            </a:extLst>
          </p:cNvPr>
          <p:cNvCxnSpPr>
            <a:cxnSpLocks/>
          </p:cNvCxnSpPr>
          <p:nvPr/>
        </p:nvCxnSpPr>
        <p:spPr>
          <a:xfrm>
            <a:off x="18509685" y="20157845"/>
            <a:ext cx="0" cy="450765"/>
          </a:xfrm>
          <a:prstGeom prst="line">
            <a:avLst/>
          </a:prstGeom>
          <a:ln w="57150">
            <a:solidFill>
              <a:schemeClr val="bg1"/>
            </a:solidFill>
          </a:ln>
        </p:spPr>
        <p:style>
          <a:lnRef idx="1">
            <a:schemeClr val="dk1"/>
          </a:lnRef>
          <a:fillRef idx="0">
            <a:schemeClr val="dk1"/>
          </a:fillRef>
          <a:effectRef idx="0">
            <a:schemeClr val="dk1"/>
          </a:effectRef>
          <a:fontRef idx="minor">
            <a:schemeClr val="tx1"/>
          </a:fontRef>
        </p:style>
      </p:cxnSp>
      <p:sp>
        <p:nvSpPr>
          <p:cNvPr id="33" name="CuadroTexto 32">
            <a:extLst>
              <a:ext uri="{FF2B5EF4-FFF2-40B4-BE49-F238E27FC236}">
                <a16:creationId xmlns:a16="http://schemas.microsoft.com/office/drawing/2014/main" id="{DC038A8F-7066-5CAA-1472-A881A2CD20AC}"/>
              </a:ext>
            </a:extLst>
          </p:cNvPr>
          <p:cNvSpPr txBox="1"/>
          <p:nvPr/>
        </p:nvSpPr>
        <p:spPr>
          <a:xfrm>
            <a:off x="17922612" y="20704601"/>
            <a:ext cx="1367016" cy="420436"/>
          </a:xfrm>
          <a:prstGeom prst="rect">
            <a:avLst/>
          </a:prstGeom>
          <a:noFill/>
        </p:spPr>
        <p:txBody>
          <a:bodyPr wrap="square" rtlCol="0">
            <a:spAutoFit/>
          </a:bodyPr>
          <a:lstStyle/>
          <a:p>
            <a:r>
              <a:rPr lang="en-US" sz="2132" b="1" dirty="0">
                <a:solidFill>
                  <a:schemeClr val="bg1"/>
                </a:solidFill>
                <a:latin typeface="Segoe UI"/>
                <a:ea typeface="Open Sans" panose="020B0606030504020204" pitchFamily="34" charset="0"/>
                <a:cs typeface="Open Sans" panose="020B0606030504020204" pitchFamily="34" charset="0"/>
              </a:rPr>
              <a:t>CD-RISC</a:t>
            </a:r>
            <a:endParaRPr lang="es-MX" sz="2132" dirty="0">
              <a:solidFill>
                <a:schemeClr val="bg1"/>
              </a:solidFill>
            </a:endParaRPr>
          </a:p>
        </p:txBody>
      </p:sp>
      <p:cxnSp>
        <p:nvCxnSpPr>
          <p:cNvPr id="1411" name="Conector recto 1410">
            <a:extLst>
              <a:ext uri="{FF2B5EF4-FFF2-40B4-BE49-F238E27FC236}">
                <a16:creationId xmlns:a16="http://schemas.microsoft.com/office/drawing/2014/main" id="{0F083719-2C71-B8E5-4DEE-B5D26B136993}"/>
              </a:ext>
            </a:extLst>
          </p:cNvPr>
          <p:cNvCxnSpPr>
            <a:cxnSpLocks/>
          </p:cNvCxnSpPr>
          <p:nvPr/>
        </p:nvCxnSpPr>
        <p:spPr>
          <a:xfrm>
            <a:off x="10908832" y="3417190"/>
            <a:ext cx="16572456" cy="0"/>
          </a:xfrm>
          <a:prstGeom prst="line">
            <a:avLst/>
          </a:prstGeom>
          <a:ln w="762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4A786EEB-51F8-32C2-0761-9CEACF485508}"/>
              </a:ext>
            </a:extLst>
          </p:cNvPr>
          <p:cNvPicPr>
            <a:picLocks noChangeAspect="1"/>
          </p:cNvPicPr>
          <p:nvPr/>
        </p:nvPicPr>
        <p:blipFill>
          <a:blip r:embed="rId2"/>
          <a:srcRect t="6809" b="7428"/>
          <a:stretch>
            <a:fillRect/>
          </a:stretch>
        </p:blipFill>
        <p:spPr>
          <a:xfrm>
            <a:off x="1872862" y="45150209"/>
            <a:ext cx="4734834" cy="4070442"/>
          </a:xfrm>
          <a:prstGeom prst="rect">
            <a:avLst/>
          </a:prstGeom>
        </p:spPr>
      </p:pic>
      <p:sp>
        <p:nvSpPr>
          <p:cNvPr id="22" name="CuadroTexto 21">
            <a:extLst>
              <a:ext uri="{FF2B5EF4-FFF2-40B4-BE49-F238E27FC236}">
                <a16:creationId xmlns:a16="http://schemas.microsoft.com/office/drawing/2014/main" id="{C4572731-B190-FD7F-F0E3-B93A5E4C37C0}"/>
              </a:ext>
            </a:extLst>
          </p:cNvPr>
          <p:cNvSpPr txBox="1"/>
          <p:nvPr/>
        </p:nvSpPr>
        <p:spPr>
          <a:xfrm>
            <a:off x="10930215" y="3948260"/>
            <a:ext cx="16289968" cy="2769989"/>
          </a:xfrm>
          <a:prstGeom prst="rect">
            <a:avLst/>
          </a:prstGeom>
          <a:noFill/>
        </p:spPr>
        <p:txBody>
          <a:bodyPr wrap="square" rtlCol="0">
            <a:spAutoFit/>
          </a:bodyPr>
          <a:lstStyle/>
          <a:p>
            <a:r>
              <a:rPr lang="en-US" sz="345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Ponente(s):</a:t>
            </a:r>
            <a:r>
              <a:rPr lang="en-US" sz="3450" dirty="0">
                <a:solidFill>
                  <a:srgbClr val="212121"/>
                </a:solidFill>
                <a:latin typeface="Segoe UI" panose="020B0502040204020203" pitchFamily="34" charset="0"/>
                <a:ea typeface="Times New Roman" panose="02020603050405020304" pitchFamily="18" charset="0"/>
                <a:cs typeface="Segoe UI" panose="020B0502040204020203" pitchFamily="34" charset="0"/>
              </a:rPr>
              <a:t> Arteaga Revelo Victoria, Benavides Burbano Carlos, </a:t>
            </a:r>
            <a:r>
              <a:rPr lang="es-CO" sz="3450" dirty="0"/>
              <a:t>Mora Delgado Leidy.</a:t>
            </a:r>
            <a:endParaRPr lang="es-CO" sz="3450" baseline="30000"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r>
              <a:rPr lang="en-US" sz="345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Asesor(a)/Lider del Semillero: </a:t>
            </a:r>
            <a:r>
              <a:rPr lang="es-CO" sz="3450" dirty="0"/>
              <a:t>Bastidas Ortega Harold, Burbano Martinez Jose, </a:t>
            </a:r>
            <a:r>
              <a:rPr lang="en-US" sz="3450" dirty="0">
                <a:solidFill>
                  <a:srgbClr val="212121"/>
                </a:solidFill>
                <a:latin typeface="Segoe UI" panose="020B0502040204020203" pitchFamily="34" charset="0"/>
                <a:ea typeface="Times New Roman" panose="02020603050405020304" pitchFamily="18" charset="0"/>
                <a:cs typeface="Segoe UI" panose="020B0502040204020203" pitchFamily="34" charset="0"/>
              </a:rPr>
              <a:t>Arteaga Fajardo Daniel </a:t>
            </a:r>
          </a:p>
          <a:p>
            <a:r>
              <a:rPr lang="en-US" sz="345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Nombre del Semillero:  </a:t>
            </a:r>
            <a:r>
              <a:rPr lang="en-US" sz="3450" dirty="0">
                <a:solidFill>
                  <a:srgbClr val="212121"/>
                </a:solidFill>
                <a:latin typeface="Segoe UI" panose="020B0502040204020203" pitchFamily="34" charset="0"/>
                <a:ea typeface="Times New Roman" panose="02020603050405020304" pitchFamily="18" charset="0"/>
                <a:cs typeface="Segoe UI" panose="020B0502040204020203" pitchFamily="34" charset="0"/>
              </a:rPr>
              <a:t>Intitech	</a:t>
            </a:r>
          </a:p>
          <a:p>
            <a:r>
              <a:rPr lang="en-US" sz="345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Datos de contacto:  </a:t>
            </a:r>
            <a:r>
              <a:rPr lang="en-US" sz="345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	</a:t>
            </a:r>
            <a:r>
              <a:rPr lang="en-US" sz="3600" b="1" dirty="0">
                <a:solidFill>
                  <a:srgbClr val="212121"/>
                </a:solidFill>
                <a:latin typeface="Segoe UI" panose="020B0502040204020203" pitchFamily="34" charset="0"/>
                <a:ea typeface="Times New Roman" panose="02020603050405020304" pitchFamily="18" charset="0"/>
                <a:cs typeface="Segoe UI" panose="020B0502040204020203" pitchFamily="34" charset="0"/>
              </a:rPr>
              <a:t>	      </a:t>
            </a:r>
          </a:p>
        </p:txBody>
      </p:sp>
      <p:sp>
        <p:nvSpPr>
          <p:cNvPr id="36" name="Rectángulo 35">
            <a:extLst>
              <a:ext uri="{FF2B5EF4-FFF2-40B4-BE49-F238E27FC236}">
                <a16:creationId xmlns:a16="http://schemas.microsoft.com/office/drawing/2014/main" id="{28680E78-26AF-BD36-BE41-E9E15C0CD4CC}"/>
              </a:ext>
            </a:extLst>
          </p:cNvPr>
          <p:cNvSpPr/>
          <p:nvPr/>
        </p:nvSpPr>
        <p:spPr>
          <a:xfrm>
            <a:off x="1142190" y="20270280"/>
            <a:ext cx="26339098" cy="523939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37" name="Rounded Rectangle 12">
            <a:extLst>
              <a:ext uri="{FF2B5EF4-FFF2-40B4-BE49-F238E27FC236}">
                <a16:creationId xmlns:a16="http://schemas.microsoft.com/office/drawing/2014/main" id="{091912AD-BBD4-4170-F87D-DCBCC867EDEA}"/>
              </a:ext>
            </a:extLst>
          </p:cNvPr>
          <p:cNvSpPr/>
          <p:nvPr/>
        </p:nvSpPr>
        <p:spPr>
          <a:xfrm>
            <a:off x="1215257" y="20401430"/>
            <a:ext cx="1073441" cy="912125"/>
          </a:xfrm>
          <a:prstGeom prst="roundRect">
            <a:avLst/>
          </a:prstGeom>
          <a:solidFill>
            <a:srgbClr val="99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03</a:t>
            </a:r>
          </a:p>
        </p:txBody>
      </p:sp>
      <p:sp>
        <p:nvSpPr>
          <p:cNvPr id="42" name="CuadroTexto 41">
            <a:extLst>
              <a:ext uri="{FF2B5EF4-FFF2-40B4-BE49-F238E27FC236}">
                <a16:creationId xmlns:a16="http://schemas.microsoft.com/office/drawing/2014/main" id="{820074BB-EF79-691A-F44C-21B4B6E6BC72}"/>
              </a:ext>
            </a:extLst>
          </p:cNvPr>
          <p:cNvSpPr txBox="1"/>
          <p:nvPr/>
        </p:nvSpPr>
        <p:spPr>
          <a:xfrm>
            <a:off x="2617228" y="14486077"/>
            <a:ext cx="24505598" cy="5139869"/>
          </a:xfrm>
          <a:prstGeom prst="rect">
            <a:avLst/>
          </a:prstGeom>
          <a:solidFill>
            <a:schemeClr val="bg1"/>
          </a:solidFill>
          <a:ln>
            <a:noFill/>
          </a:ln>
        </p:spPr>
        <p:txBody>
          <a:bodyPr wrap="square">
            <a:spAutoFit/>
          </a:bodyPr>
          <a:lstStyle/>
          <a:p>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Objetivos</a:t>
            </a:r>
          </a:p>
          <a:p>
            <a:pPr algn="just"/>
            <a:r>
              <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Objetivo general: </a:t>
            </a:r>
            <a:r>
              <a:rPr lang="es-MX" sz="3600" dirty="0">
                <a:latin typeface="Segoe UI" panose="020B0502040204020203" pitchFamily="34" charset="0"/>
                <a:cs typeface="Segoe UI" panose="020B0502040204020203" pitchFamily="34" charset="0"/>
              </a:rPr>
              <a:t>Construir una herramienta software basada en inteligencia artificial orientada al fortalecimiento de la evaluación de competencias clínicas en estudiantes de medicina mediante simulación clínica.</a:t>
            </a:r>
            <a:endPar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r>
              <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Objetivos : específicos</a:t>
            </a:r>
          </a:p>
          <a:p>
            <a:pPr marL="571500" indent="-571500">
              <a:buFont typeface="Arial" panose="020B0604020202020204" pitchFamily="34" charset="0"/>
              <a:buChar char="•"/>
            </a:pPr>
            <a:r>
              <a:rPr lang="es-MX" sz="3600" dirty="0"/>
              <a:t>Caracterizar los procesos actuales de evaluación clínica en el programa de Medicina para formulación de requerimientos. </a:t>
            </a:r>
          </a:p>
          <a:p>
            <a:pPr marL="571500" indent="-571500">
              <a:buFont typeface="Arial" panose="020B0604020202020204" pitchFamily="34" charset="0"/>
              <a:buChar char="•"/>
            </a:pPr>
            <a:r>
              <a:rPr lang="es-MX" sz="3600" dirty="0"/>
              <a:t>Diseñar una arquitectura de software que incluya el modelo pedagógico y evaluativo del aplicativo. </a:t>
            </a:r>
          </a:p>
          <a:p>
            <a:pPr marL="571500" indent="-571500">
              <a:buFont typeface="Arial" panose="020B0604020202020204" pitchFamily="34" charset="0"/>
              <a:buChar char="•"/>
            </a:pPr>
            <a:r>
              <a:rPr lang="es-MX" sz="3600" dirty="0"/>
              <a:t>Construir el aplicativo integrando inteligencia artificial para uso de profesores y estudiantes. </a:t>
            </a:r>
          </a:p>
          <a:p>
            <a:pPr marL="571500" indent="-571500">
              <a:buFont typeface="Arial" panose="020B0604020202020204" pitchFamily="34" charset="0"/>
              <a:buChar char="•"/>
            </a:pPr>
            <a:r>
              <a:rPr lang="es-MX" sz="3600" dirty="0"/>
              <a:t>Probar el software usando estándares iso25010 en escenarios de simulación clínica. </a:t>
            </a:r>
          </a:p>
          <a:p>
            <a:pPr marL="571500" indent="-571500">
              <a:buFont typeface="Arial" panose="020B0604020202020204" pitchFamily="34" charset="0"/>
              <a:buChar char="•"/>
            </a:pPr>
            <a:r>
              <a:rPr lang="es-MX" sz="3600" dirty="0"/>
              <a:t>Validar la utilidad y aceptación de los resultados académicos obtenidos.</a:t>
            </a:r>
            <a:endPar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50" name="CuadroTexto 49">
            <a:extLst>
              <a:ext uri="{FF2B5EF4-FFF2-40B4-BE49-F238E27FC236}">
                <a16:creationId xmlns:a16="http://schemas.microsoft.com/office/drawing/2014/main" id="{ADF624B4-CA51-1B3E-5EDB-EAF89A0978EA}"/>
              </a:ext>
            </a:extLst>
          </p:cNvPr>
          <p:cNvSpPr txBox="1"/>
          <p:nvPr/>
        </p:nvSpPr>
        <p:spPr>
          <a:xfrm>
            <a:off x="2519871" y="20666291"/>
            <a:ext cx="24700312" cy="4401205"/>
          </a:xfrm>
          <a:prstGeom prst="rect">
            <a:avLst/>
          </a:prstGeom>
          <a:solidFill>
            <a:schemeClr val="bg1"/>
          </a:solidFill>
          <a:ln>
            <a:noFill/>
          </a:ln>
        </p:spPr>
        <p:txBody>
          <a:bodyPr wrap="square">
            <a:spAutoFit/>
          </a:bodyPr>
          <a:lstStyle/>
          <a:p>
            <a:pPr algn="just"/>
            <a:r>
              <a:rPr lang="es-CO" sz="4000" b="1" dirty="0">
                <a:latin typeface="Segoe UI" panose="020B0502040204020203" pitchFamily="34" charset="0"/>
                <a:cs typeface="Segoe UI" panose="020B0502040204020203" pitchFamily="34" charset="0"/>
              </a:rPr>
              <a:t>Marco conceptual: </a:t>
            </a:r>
          </a:p>
          <a:p>
            <a:pPr algn="just"/>
            <a:r>
              <a:rPr lang="es-MX" sz="3600" dirty="0"/>
              <a:t>La evaluación de competencias clínicas se basa en la </a:t>
            </a:r>
            <a:r>
              <a:rPr lang="es-MX" sz="3600" i="1" dirty="0"/>
              <a:t>Pirámide de Miller </a:t>
            </a:r>
            <a:r>
              <a:rPr lang="es-MX" sz="3600" dirty="0"/>
              <a:t>y el desempeño observable. Aunque la simulación y el sistema </a:t>
            </a:r>
            <a:r>
              <a:rPr lang="es-MX" sz="3600" i="1" dirty="0"/>
              <a:t>ECOE/OSCE </a:t>
            </a:r>
            <a:r>
              <a:rPr lang="es-MX" sz="3600" dirty="0"/>
              <a:t>son válidos para medir habilidades y razonamiento, la literatura reporta falta de fiabilidad interevaluador y limitaciones en la retroalimentación cuando depende solo del humano.</a:t>
            </a:r>
          </a:p>
          <a:p>
            <a:pPr algn="just"/>
            <a:endParaRPr lang="es-MX" sz="2000" dirty="0"/>
          </a:p>
          <a:p>
            <a:pPr algn="just"/>
            <a:r>
              <a:rPr lang="es-MX" sz="3600" dirty="0"/>
              <a:t>A nivel internacional, la </a:t>
            </a:r>
            <a:r>
              <a:rPr lang="es-MX" sz="3600" i="1" dirty="0"/>
              <a:t>IA </a:t>
            </a:r>
            <a:r>
              <a:rPr lang="es-MX" sz="3600" dirty="0"/>
              <a:t>se aplica en análisis de desempeño y tutoría inteligente como apoyo al docente, sin reemplazar su juicio clínico. En Colombia, la evidencia sobre estos aplicativos es limitada, lo que posiciona a este proyecto como una propuesta innovadora y alineada con las prioridades de desarrollo tecnológico en educación superior y salud.</a:t>
            </a:r>
          </a:p>
        </p:txBody>
      </p:sp>
      <p:sp>
        <p:nvSpPr>
          <p:cNvPr id="51" name="CuadroTexto 50">
            <a:extLst>
              <a:ext uri="{FF2B5EF4-FFF2-40B4-BE49-F238E27FC236}">
                <a16:creationId xmlns:a16="http://schemas.microsoft.com/office/drawing/2014/main" id="{292D48F2-E061-736A-CE6C-7BBDB57CEC47}"/>
              </a:ext>
            </a:extLst>
          </p:cNvPr>
          <p:cNvSpPr txBox="1"/>
          <p:nvPr/>
        </p:nvSpPr>
        <p:spPr>
          <a:xfrm>
            <a:off x="2499585" y="26405686"/>
            <a:ext cx="4168151" cy="707886"/>
          </a:xfrm>
          <a:prstGeom prst="rect">
            <a:avLst/>
          </a:prstGeom>
          <a:solidFill>
            <a:schemeClr val="bg1"/>
          </a:solidFill>
          <a:ln>
            <a:noFill/>
          </a:ln>
        </p:spPr>
        <p:txBody>
          <a:bodyPr wrap="square">
            <a:spAutoFit/>
          </a:bodyPr>
          <a:lstStyle/>
          <a:p>
            <a:pPr algn="just"/>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Métodos:</a:t>
            </a:r>
          </a:p>
        </p:txBody>
      </p:sp>
      <p:pic>
        <p:nvPicPr>
          <p:cNvPr id="55" name="Imagen 54">
            <a:extLst>
              <a:ext uri="{FF2B5EF4-FFF2-40B4-BE49-F238E27FC236}">
                <a16:creationId xmlns:a16="http://schemas.microsoft.com/office/drawing/2014/main" id="{D623BE79-CC5E-E947-30D7-8A01B0B51A6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8339831" y="45150209"/>
            <a:ext cx="4400325" cy="4423007"/>
          </a:xfrm>
          <a:prstGeom prst="rect">
            <a:avLst/>
          </a:prstGeom>
        </p:spPr>
      </p:pic>
      <p:pic>
        <p:nvPicPr>
          <p:cNvPr id="12" name="Imagen 11">
            <a:extLst>
              <a:ext uri="{FF2B5EF4-FFF2-40B4-BE49-F238E27FC236}">
                <a16:creationId xmlns:a16="http://schemas.microsoft.com/office/drawing/2014/main" id="{85E92FA5-AE7F-1A76-75A3-5F6606BF532A}"/>
              </a:ext>
            </a:extLst>
          </p:cNvPr>
          <p:cNvPicPr>
            <a:picLocks noChangeAspect="1"/>
          </p:cNvPicPr>
          <p:nvPr/>
        </p:nvPicPr>
        <p:blipFill rotWithShape="1">
          <a:blip r:embed="rId5">
            <a:extLst>
              <a:ext uri="{28A0092B-C50C-407E-A947-70E740481C1C}">
                <a14:useLocalDpi xmlns:a14="http://schemas.microsoft.com/office/drawing/2010/main" val="0"/>
              </a:ext>
            </a:extLst>
          </a:blip>
          <a:srcRect l="9431" t="21221" r="3721" b="21651"/>
          <a:stretch>
            <a:fillRect/>
          </a:stretch>
        </p:blipFill>
        <p:spPr bwMode="auto">
          <a:xfrm>
            <a:off x="21530965" y="45150209"/>
            <a:ext cx="4529637" cy="4261440"/>
          </a:xfrm>
          <a:prstGeom prst="rect">
            <a:avLst/>
          </a:prstGeom>
          <a:ln w="38100" cap="sq" cmpd="sng" algn="ctr">
            <a:solidFill>
              <a:srgbClr val="000000"/>
            </a:solidFill>
            <a:prstDash val="solid"/>
            <a:miter lim="800000"/>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71433708-34A3-686F-B5DF-A9A58A80DD68}"/>
              </a:ext>
            </a:extLst>
          </p:cNvPr>
          <p:cNvPicPr>
            <a:picLocks noChangeAspect="1"/>
          </p:cNvPicPr>
          <p:nvPr/>
        </p:nvPicPr>
        <p:blipFill>
          <a:blip r:embed="rId6"/>
          <a:srcRect l="16982" t="10990" r="18217" b="11045"/>
          <a:stretch>
            <a:fillRect/>
          </a:stretch>
        </p:blipFill>
        <p:spPr>
          <a:xfrm>
            <a:off x="1645945" y="467679"/>
            <a:ext cx="8612586" cy="7768729"/>
          </a:xfrm>
          <a:prstGeom prst="rect">
            <a:avLst/>
          </a:prstGeom>
        </p:spPr>
      </p:pic>
      <p:pic>
        <p:nvPicPr>
          <p:cNvPr id="8" name="Imagen 7">
            <a:extLst>
              <a:ext uri="{FF2B5EF4-FFF2-40B4-BE49-F238E27FC236}">
                <a16:creationId xmlns:a16="http://schemas.microsoft.com/office/drawing/2014/main" id="{B1815C0A-FEA5-428C-3189-4A7C7E962E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70742" y="45150865"/>
            <a:ext cx="4529637" cy="4261440"/>
          </a:xfrm>
          <a:prstGeom prst="rect">
            <a:avLst/>
          </a:prstGeom>
        </p:spPr>
      </p:pic>
      <p:sp>
        <p:nvSpPr>
          <p:cNvPr id="17" name="Rectángulo 16">
            <a:extLst>
              <a:ext uri="{FF2B5EF4-FFF2-40B4-BE49-F238E27FC236}">
                <a16:creationId xmlns:a16="http://schemas.microsoft.com/office/drawing/2014/main" id="{3FE058C5-633F-8D81-115B-9B398D1B24F1}"/>
              </a:ext>
            </a:extLst>
          </p:cNvPr>
          <p:cNvSpPr/>
          <p:nvPr/>
        </p:nvSpPr>
        <p:spPr>
          <a:xfrm>
            <a:off x="1142413" y="33554063"/>
            <a:ext cx="26359540" cy="5084795"/>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21" name="CuadroTexto 20">
            <a:extLst>
              <a:ext uri="{FF2B5EF4-FFF2-40B4-BE49-F238E27FC236}">
                <a16:creationId xmlns:a16="http://schemas.microsoft.com/office/drawing/2014/main" id="{ECD008CD-6FF9-2969-E517-FF6FC0EAD1C9}"/>
              </a:ext>
            </a:extLst>
          </p:cNvPr>
          <p:cNvSpPr txBox="1"/>
          <p:nvPr/>
        </p:nvSpPr>
        <p:spPr>
          <a:xfrm>
            <a:off x="2687846" y="33998544"/>
            <a:ext cx="9709274" cy="707886"/>
          </a:xfrm>
          <a:prstGeom prst="rect">
            <a:avLst/>
          </a:prstGeom>
          <a:solidFill>
            <a:schemeClr val="bg1"/>
          </a:solidFill>
          <a:ln>
            <a:noFill/>
          </a:ln>
        </p:spPr>
        <p:txBody>
          <a:bodyPr wrap="square">
            <a:spAutoFit/>
          </a:bodyPr>
          <a:lstStyle/>
          <a:p>
            <a:r>
              <a:rPr lang="en-US" sz="4000" b="1" dirty="0">
                <a:solidFill>
                  <a:srgbClr val="000000"/>
                </a:solidFill>
                <a:latin typeface="Segoe UI" panose="020B0502040204020203" pitchFamily="34" charset="0"/>
                <a:ea typeface="Times New Roman" panose="02020603050405020304" pitchFamily="18" charset="0"/>
                <a:cs typeface="Segoe UI" panose="020B0502040204020203" pitchFamily="34" charset="0"/>
              </a:rPr>
              <a:t>Resultados esperados:</a:t>
            </a:r>
            <a:r>
              <a:rPr lang="es-MX" sz="3600" dirty="0"/>
              <a:t>.</a:t>
            </a:r>
            <a:endPar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
        <p:nvSpPr>
          <p:cNvPr id="27" name="Rounded Rectangle 12">
            <a:extLst>
              <a:ext uri="{FF2B5EF4-FFF2-40B4-BE49-F238E27FC236}">
                <a16:creationId xmlns:a16="http://schemas.microsoft.com/office/drawing/2014/main" id="{9775173D-B6A2-E197-A327-0E8D1EC0C52A}"/>
              </a:ext>
            </a:extLst>
          </p:cNvPr>
          <p:cNvSpPr/>
          <p:nvPr/>
        </p:nvSpPr>
        <p:spPr>
          <a:xfrm>
            <a:off x="1378409" y="33998544"/>
            <a:ext cx="1073441" cy="912125"/>
          </a:xfrm>
          <a:prstGeom prst="roundRect">
            <a:avLst/>
          </a:prstGeom>
          <a:solidFill>
            <a:srgbClr val="99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797" b="1" dirty="0">
                <a:latin typeface="Arial" panose="020B0604020202020204" pitchFamily="34" charset="0"/>
                <a:cs typeface="Arial" panose="020B0604020202020204" pitchFamily="34" charset="0"/>
              </a:rPr>
              <a:t>05</a:t>
            </a:r>
          </a:p>
        </p:txBody>
      </p:sp>
      <p:sp>
        <p:nvSpPr>
          <p:cNvPr id="61" name="Rectángulo: esquinas redondeadas 60">
            <a:extLst>
              <a:ext uri="{FF2B5EF4-FFF2-40B4-BE49-F238E27FC236}">
                <a16:creationId xmlns:a16="http://schemas.microsoft.com/office/drawing/2014/main" id="{3E0D092E-9E52-D65D-FBDA-6DD20B5AAB2B}"/>
              </a:ext>
            </a:extLst>
          </p:cNvPr>
          <p:cNvSpPr/>
          <p:nvPr/>
        </p:nvSpPr>
        <p:spPr>
          <a:xfrm>
            <a:off x="3084769" y="28469356"/>
            <a:ext cx="2903680" cy="647214"/>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2" name="Rectángulo: esquinas redondeadas 61">
            <a:extLst>
              <a:ext uri="{FF2B5EF4-FFF2-40B4-BE49-F238E27FC236}">
                <a16:creationId xmlns:a16="http://schemas.microsoft.com/office/drawing/2014/main" id="{E28B802E-2235-1FEE-2847-469519B8DB53}"/>
              </a:ext>
            </a:extLst>
          </p:cNvPr>
          <p:cNvSpPr/>
          <p:nvPr/>
        </p:nvSpPr>
        <p:spPr>
          <a:xfrm>
            <a:off x="8238129" y="28476250"/>
            <a:ext cx="2415736" cy="615381"/>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08" name="Rectángulo: esquinas redondeadas 1407">
            <a:extLst>
              <a:ext uri="{FF2B5EF4-FFF2-40B4-BE49-F238E27FC236}">
                <a16:creationId xmlns:a16="http://schemas.microsoft.com/office/drawing/2014/main" id="{9FCC0246-5E90-64D5-D006-9385CE4F539E}"/>
              </a:ext>
            </a:extLst>
          </p:cNvPr>
          <p:cNvSpPr/>
          <p:nvPr/>
        </p:nvSpPr>
        <p:spPr>
          <a:xfrm>
            <a:off x="2635855" y="29285581"/>
            <a:ext cx="3896306" cy="2965873"/>
          </a:xfrm>
          <a:prstGeom prst="roundRect">
            <a:avLst/>
          </a:prstGeom>
          <a:no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09" name="Rectángulo: esquinas redondeadas 1408">
            <a:extLst>
              <a:ext uri="{FF2B5EF4-FFF2-40B4-BE49-F238E27FC236}">
                <a16:creationId xmlns:a16="http://schemas.microsoft.com/office/drawing/2014/main" id="{B126E7CA-83BB-DA9B-7297-CE6BA2E29432}"/>
              </a:ext>
            </a:extLst>
          </p:cNvPr>
          <p:cNvSpPr/>
          <p:nvPr/>
        </p:nvSpPr>
        <p:spPr>
          <a:xfrm>
            <a:off x="7379465" y="29286280"/>
            <a:ext cx="4078433" cy="3219579"/>
          </a:xfrm>
          <a:prstGeom prst="roundRect">
            <a:avLst/>
          </a:prstGeom>
          <a:no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0" name="Rectángulo: esquinas redondeadas 1409">
            <a:extLst>
              <a:ext uri="{FF2B5EF4-FFF2-40B4-BE49-F238E27FC236}">
                <a16:creationId xmlns:a16="http://schemas.microsoft.com/office/drawing/2014/main" id="{C764E793-0A79-FAF9-212C-AC1EAA1F27E4}"/>
              </a:ext>
            </a:extLst>
          </p:cNvPr>
          <p:cNvSpPr/>
          <p:nvPr/>
        </p:nvSpPr>
        <p:spPr>
          <a:xfrm>
            <a:off x="12450158" y="29317587"/>
            <a:ext cx="3989235" cy="2802677"/>
          </a:xfrm>
          <a:prstGeom prst="roundRect">
            <a:avLst/>
          </a:prstGeom>
          <a:no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2" name="Rectángulo: esquinas redondeadas 1411">
            <a:extLst>
              <a:ext uri="{FF2B5EF4-FFF2-40B4-BE49-F238E27FC236}">
                <a16:creationId xmlns:a16="http://schemas.microsoft.com/office/drawing/2014/main" id="{3443005A-31B8-063D-6385-B42980B73191}"/>
              </a:ext>
            </a:extLst>
          </p:cNvPr>
          <p:cNvSpPr/>
          <p:nvPr/>
        </p:nvSpPr>
        <p:spPr>
          <a:xfrm>
            <a:off x="17307054" y="28606358"/>
            <a:ext cx="3355862" cy="1084985"/>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14" name="Rectángulo: esquinas redondeadas 1413">
            <a:extLst>
              <a:ext uri="{FF2B5EF4-FFF2-40B4-BE49-F238E27FC236}">
                <a16:creationId xmlns:a16="http://schemas.microsoft.com/office/drawing/2014/main" id="{F0CC67E4-0CD7-93D6-7BD5-630309EC0DFB}"/>
              </a:ext>
            </a:extLst>
          </p:cNvPr>
          <p:cNvSpPr/>
          <p:nvPr/>
        </p:nvSpPr>
        <p:spPr>
          <a:xfrm>
            <a:off x="22187380" y="28552243"/>
            <a:ext cx="3235735" cy="572423"/>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6" name="Rectángulo: esquinas redondeadas 1415">
            <a:extLst>
              <a:ext uri="{FF2B5EF4-FFF2-40B4-BE49-F238E27FC236}">
                <a16:creationId xmlns:a16="http://schemas.microsoft.com/office/drawing/2014/main" id="{06619044-51C2-9274-ECAF-DF8D4DAA78E7}"/>
              </a:ext>
            </a:extLst>
          </p:cNvPr>
          <p:cNvSpPr/>
          <p:nvPr/>
        </p:nvSpPr>
        <p:spPr>
          <a:xfrm>
            <a:off x="16994280" y="30035334"/>
            <a:ext cx="4019512" cy="1620313"/>
          </a:xfrm>
          <a:prstGeom prst="roundRect">
            <a:avLst/>
          </a:prstGeom>
          <a:no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17" name="Rectángulo: esquinas redondeadas 1416">
            <a:extLst>
              <a:ext uri="{FF2B5EF4-FFF2-40B4-BE49-F238E27FC236}">
                <a16:creationId xmlns:a16="http://schemas.microsoft.com/office/drawing/2014/main" id="{4C83734A-47AD-09B7-19A4-012644F16BE0}"/>
              </a:ext>
            </a:extLst>
          </p:cNvPr>
          <p:cNvSpPr/>
          <p:nvPr/>
        </p:nvSpPr>
        <p:spPr>
          <a:xfrm>
            <a:off x="21510153" y="29488242"/>
            <a:ext cx="4606087" cy="2386849"/>
          </a:xfrm>
          <a:prstGeom prst="roundRect">
            <a:avLst/>
          </a:prstGeom>
          <a:no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cxnSp>
        <p:nvCxnSpPr>
          <p:cNvPr id="1424" name="Conector recto 1423">
            <a:extLst>
              <a:ext uri="{FF2B5EF4-FFF2-40B4-BE49-F238E27FC236}">
                <a16:creationId xmlns:a16="http://schemas.microsoft.com/office/drawing/2014/main" id="{D552D72F-C87A-593F-28D7-E239EFF44648}"/>
              </a:ext>
            </a:extLst>
          </p:cNvPr>
          <p:cNvCxnSpPr>
            <a:cxnSpLocks/>
          </p:cNvCxnSpPr>
          <p:nvPr/>
        </p:nvCxnSpPr>
        <p:spPr>
          <a:xfrm>
            <a:off x="4505707" y="27885108"/>
            <a:ext cx="19307492" cy="75194"/>
          </a:xfrm>
          <a:prstGeom prst="line">
            <a:avLst/>
          </a:prstGeom>
          <a:ln w="28575"/>
        </p:spPr>
        <p:style>
          <a:lnRef idx="3">
            <a:schemeClr val="dk1"/>
          </a:lnRef>
          <a:fillRef idx="0">
            <a:schemeClr val="dk1"/>
          </a:fillRef>
          <a:effectRef idx="2">
            <a:schemeClr val="dk1"/>
          </a:effectRef>
          <a:fontRef idx="minor">
            <a:schemeClr val="tx1"/>
          </a:fontRef>
        </p:style>
      </p:cxnSp>
      <p:sp>
        <p:nvSpPr>
          <p:cNvPr id="60" name="Rectángulo: esquinas redondeadas 59">
            <a:extLst>
              <a:ext uri="{FF2B5EF4-FFF2-40B4-BE49-F238E27FC236}">
                <a16:creationId xmlns:a16="http://schemas.microsoft.com/office/drawing/2014/main" id="{9D56419D-E000-8737-E164-779CFE3FBF8A}"/>
              </a:ext>
            </a:extLst>
          </p:cNvPr>
          <p:cNvSpPr/>
          <p:nvPr/>
        </p:nvSpPr>
        <p:spPr>
          <a:xfrm>
            <a:off x="9802187" y="26219683"/>
            <a:ext cx="10039103" cy="1260463"/>
          </a:xfrm>
          <a:prstGeom prst="roundRect">
            <a:avLst/>
          </a:prstGeom>
          <a:noFill/>
          <a:ln>
            <a:solidFill>
              <a:srgbClr val="99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57" name="CuadroTexto 1456">
            <a:extLst>
              <a:ext uri="{FF2B5EF4-FFF2-40B4-BE49-F238E27FC236}">
                <a16:creationId xmlns:a16="http://schemas.microsoft.com/office/drawing/2014/main" id="{F549256E-DD5E-CA40-EB52-FC77080C81D7}"/>
              </a:ext>
            </a:extLst>
          </p:cNvPr>
          <p:cNvSpPr txBox="1"/>
          <p:nvPr/>
        </p:nvSpPr>
        <p:spPr>
          <a:xfrm>
            <a:off x="9587663" y="26249751"/>
            <a:ext cx="10417096" cy="1200329"/>
          </a:xfrm>
          <a:prstGeom prst="rect">
            <a:avLst/>
          </a:prstGeom>
          <a:noFill/>
          <a:ln>
            <a:noFill/>
          </a:ln>
        </p:spPr>
        <p:txBody>
          <a:bodyPr wrap="square">
            <a:spAutoFit/>
          </a:bodyPr>
          <a:lstStyle/>
          <a:p>
            <a:pPr algn="ctr"/>
            <a:r>
              <a:rPr lang="es-MX" sz="3600" b="1" dirty="0"/>
              <a:t>Investigación aplicada con enfoque mixto y componente de desarrollo tecnológico (I+D).</a:t>
            </a:r>
            <a:endParaRPr lang="en-US" sz="2800"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63" name="Rectángulo: esquinas redondeadas 62">
            <a:extLst>
              <a:ext uri="{FF2B5EF4-FFF2-40B4-BE49-F238E27FC236}">
                <a16:creationId xmlns:a16="http://schemas.microsoft.com/office/drawing/2014/main" id="{65A45A6F-6D3D-6CF0-A151-B58A1B098089}"/>
              </a:ext>
            </a:extLst>
          </p:cNvPr>
          <p:cNvSpPr/>
          <p:nvPr/>
        </p:nvSpPr>
        <p:spPr>
          <a:xfrm>
            <a:off x="13088976" y="28518483"/>
            <a:ext cx="2724897" cy="631986"/>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60" name="CuadroTexto 1459">
            <a:extLst>
              <a:ext uri="{FF2B5EF4-FFF2-40B4-BE49-F238E27FC236}">
                <a16:creationId xmlns:a16="http://schemas.microsoft.com/office/drawing/2014/main" id="{8AEC5357-6DA9-56F9-AAF7-689F476F35D9}"/>
              </a:ext>
            </a:extLst>
          </p:cNvPr>
          <p:cNvSpPr txBox="1"/>
          <p:nvPr/>
        </p:nvSpPr>
        <p:spPr>
          <a:xfrm>
            <a:off x="12955538" y="28577939"/>
            <a:ext cx="3098827" cy="461665"/>
          </a:xfrm>
          <a:prstGeom prst="rect">
            <a:avLst/>
          </a:prstGeom>
          <a:noFill/>
          <a:ln>
            <a:noFill/>
          </a:ln>
        </p:spPr>
        <p:txBody>
          <a:bodyPr wrap="square">
            <a:spAutoFit/>
          </a:bodyPr>
          <a:lstStyle/>
          <a:p>
            <a:pPr algn="ctr"/>
            <a:r>
              <a:rPr lang="es-MX" sz="2400" b="1" dirty="0">
                <a:latin typeface="Segoe UI" panose="020B0502040204020203" pitchFamily="34" charset="0"/>
                <a:ea typeface="Times New Roman" panose="02020603050405020304" pitchFamily="18" charset="0"/>
                <a:cs typeface="Segoe UI" panose="020B0502040204020203" pitchFamily="34" charset="0"/>
              </a:rPr>
              <a:t>Fase 3: Desarrollo</a:t>
            </a:r>
            <a:endParaRPr lang="en-US"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63" name="CuadroTexto 1462">
            <a:extLst>
              <a:ext uri="{FF2B5EF4-FFF2-40B4-BE49-F238E27FC236}">
                <a16:creationId xmlns:a16="http://schemas.microsoft.com/office/drawing/2014/main" id="{31294FD7-7897-6876-8B27-CC0023C39118}"/>
              </a:ext>
            </a:extLst>
          </p:cNvPr>
          <p:cNvSpPr txBox="1"/>
          <p:nvPr/>
        </p:nvSpPr>
        <p:spPr>
          <a:xfrm>
            <a:off x="8316527" y="28536152"/>
            <a:ext cx="2303612" cy="461665"/>
          </a:xfrm>
          <a:prstGeom prst="rect">
            <a:avLst/>
          </a:prstGeom>
          <a:noFill/>
          <a:ln>
            <a:noFill/>
          </a:ln>
        </p:spPr>
        <p:txBody>
          <a:bodyPr wrap="square">
            <a:spAutoFit/>
          </a:bodyPr>
          <a:lstStyle/>
          <a:p>
            <a:pPr algn="ctr"/>
            <a:r>
              <a:rPr lang="es-MX" sz="2400" b="1" dirty="0">
                <a:latin typeface="Segoe UI" panose="020B0502040204020203" pitchFamily="34" charset="0"/>
                <a:ea typeface="Times New Roman" panose="02020603050405020304" pitchFamily="18" charset="0"/>
                <a:cs typeface="Segoe UI" panose="020B0502040204020203" pitchFamily="34" charset="0"/>
              </a:rPr>
              <a:t>Fase 2: Diseño</a:t>
            </a:r>
            <a:endParaRPr lang="en-US"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64" name="CuadroTexto 1463">
            <a:extLst>
              <a:ext uri="{FF2B5EF4-FFF2-40B4-BE49-F238E27FC236}">
                <a16:creationId xmlns:a16="http://schemas.microsoft.com/office/drawing/2014/main" id="{28403305-2C90-65E1-DC79-FF4746753A4E}"/>
              </a:ext>
            </a:extLst>
          </p:cNvPr>
          <p:cNvSpPr txBox="1"/>
          <p:nvPr/>
        </p:nvSpPr>
        <p:spPr>
          <a:xfrm>
            <a:off x="2864920" y="28571459"/>
            <a:ext cx="3330937" cy="461665"/>
          </a:xfrm>
          <a:prstGeom prst="rect">
            <a:avLst/>
          </a:prstGeom>
          <a:noFill/>
          <a:ln>
            <a:noFill/>
          </a:ln>
        </p:spPr>
        <p:txBody>
          <a:bodyPr wrap="square">
            <a:spAutoFit/>
          </a:bodyPr>
          <a:lstStyle/>
          <a:p>
            <a:pPr algn="ctr"/>
            <a:r>
              <a:rPr lang="es-MX" sz="2400" b="1" dirty="0">
                <a:latin typeface="Segoe UI" panose="020B0502040204020203" pitchFamily="34" charset="0"/>
                <a:ea typeface="Times New Roman" panose="02020603050405020304" pitchFamily="18" charset="0"/>
                <a:cs typeface="Segoe UI" panose="020B0502040204020203" pitchFamily="34" charset="0"/>
              </a:rPr>
              <a:t>Fase 1: Diagnostico</a:t>
            </a:r>
            <a:endParaRPr lang="en-US"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65" name="CuadroTexto 1464">
            <a:extLst>
              <a:ext uri="{FF2B5EF4-FFF2-40B4-BE49-F238E27FC236}">
                <a16:creationId xmlns:a16="http://schemas.microsoft.com/office/drawing/2014/main" id="{FAFC42D4-BD12-938D-584A-4BB0BA9D4F14}"/>
              </a:ext>
            </a:extLst>
          </p:cNvPr>
          <p:cNvSpPr txBox="1"/>
          <p:nvPr/>
        </p:nvSpPr>
        <p:spPr>
          <a:xfrm>
            <a:off x="2712448" y="29578702"/>
            <a:ext cx="3742424" cy="2554545"/>
          </a:xfrm>
          <a:prstGeom prst="rect">
            <a:avLst/>
          </a:prstGeom>
          <a:noFill/>
          <a:ln>
            <a:noFill/>
          </a:ln>
        </p:spPr>
        <p:txBody>
          <a:bodyPr wrap="square">
            <a:spAutoFit/>
          </a:bodyPr>
          <a:lstStyle/>
          <a:p>
            <a:pPr algn="ctr"/>
            <a:r>
              <a:rPr lang="es-CO" sz="3200" dirty="0"/>
              <a:t>Revisión documental, entrevistas a docentes y análisis de instrumentos actuales.</a:t>
            </a:r>
            <a:endParaRPr lang="en-US" sz="2400"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66" name="CuadroTexto 1465">
            <a:extLst>
              <a:ext uri="{FF2B5EF4-FFF2-40B4-BE49-F238E27FC236}">
                <a16:creationId xmlns:a16="http://schemas.microsoft.com/office/drawing/2014/main" id="{F9C7BD73-DC0E-FFD2-ED3C-FC13330B70A2}"/>
              </a:ext>
            </a:extLst>
          </p:cNvPr>
          <p:cNvSpPr txBox="1"/>
          <p:nvPr/>
        </p:nvSpPr>
        <p:spPr>
          <a:xfrm>
            <a:off x="7471889" y="29667587"/>
            <a:ext cx="3948217" cy="2554545"/>
          </a:xfrm>
          <a:prstGeom prst="rect">
            <a:avLst/>
          </a:prstGeom>
          <a:noFill/>
          <a:ln>
            <a:noFill/>
          </a:ln>
        </p:spPr>
        <p:txBody>
          <a:bodyPr wrap="square">
            <a:spAutoFit/>
          </a:bodyPr>
          <a:lstStyle/>
          <a:p>
            <a:pPr algn="ctr"/>
            <a:r>
              <a:rPr lang="es-MX" sz="3200" dirty="0"/>
              <a:t>Definición de competencias, rúbricas, arquitectura funcional y criterios evaluativos</a:t>
            </a:r>
            <a:endParaRPr lang="en-US" sz="2400"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68" name="CuadroTexto 1467">
            <a:extLst>
              <a:ext uri="{FF2B5EF4-FFF2-40B4-BE49-F238E27FC236}">
                <a16:creationId xmlns:a16="http://schemas.microsoft.com/office/drawing/2014/main" id="{4BFA35AE-ACAD-8BF4-C4C5-C316A38B353B}"/>
              </a:ext>
            </a:extLst>
          </p:cNvPr>
          <p:cNvSpPr txBox="1"/>
          <p:nvPr/>
        </p:nvSpPr>
        <p:spPr>
          <a:xfrm>
            <a:off x="12843966" y="29670640"/>
            <a:ext cx="3216167" cy="2062103"/>
          </a:xfrm>
          <a:prstGeom prst="rect">
            <a:avLst/>
          </a:prstGeom>
          <a:noFill/>
          <a:ln>
            <a:noFill/>
          </a:ln>
        </p:spPr>
        <p:txBody>
          <a:bodyPr wrap="square">
            <a:spAutoFit/>
          </a:bodyPr>
          <a:lstStyle/>
          <a:p>
            <a:pPr algn="ctr"/>
            <a:r>
              <a:rPr lang="es-MX" sz="3200" dirty="0"/>
              <a:t>Construcción del aplicativo, integración de IA, pruebas técnicas.</a:t>
            </a:r>
            <a:endParaRPr lang="en-US" sz="2400"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69" name="CuadroTexto 1468">
            <a:extLst>
              <a:ext uri="{FF2B5EF4-FFF2-40B4-BE49-F238E27FC236}">
                <a16:creationId xmlns:a16="http://schemas.microsoft.com/office/drawing/2014/main" id="{B3D34E4A-BD19-53D0-3B7E-C48D2D8CAD66}"/>
              </a:ext>
            </a:extLst>
          </p:cNvPr>
          <p:cNvSpPr txBox="1"/>
          <p:nvPr/>
        </p:nvSpPr>
        <p:spPr>
          <a:xfrm>
            <a:off x="16987462" y="28659079"/>
            <a:ext cx="4026329" cy="830997"/>
          </a:xfrm>
          <a:prstGeom prst="rect">
            <a:avLst/>
          </a:prstGeom>
          <a:noFill/>
          <a:ln>
            <a:noFill/>
          </a:ln>
        </p:spPr>
        <p:txBody>
          <a:bodyPr wrap="square">
            <a:spAutoFit/>
          </a:bodyPr>
          <a:lstStyle/>
          <a:p>
            <a:pPr algn="ctr"/>
            <a:r>
              <a:rPr lang="es-MX" sz="2400" b="1" dirty="0">
                <a:latin typeface="Segoe UI" panose="020B0502040204020203" pitchFamily="34" charset="0"/>
                <a:ea typeface="Times New Roman" panose="02020603050405020304" pitchFamily="18" charset="0"/>
                <a:cs typeface="Segoe UI" panose="020B0502040204020203" pitchFamily="34" charset="0"/>
              </a:rPr>
              <a:t>Fase 4:</a:t>
            </a:r>
          </a:p>
          <a:p>
            <a:pPr algn="ctr"/>
            <a:r>
              <a:rPr lang="es-MX" sz="2400" b="1" dirty="0">
                <a:latin typeface="Segoe UI" panose="020B0502040204020203" pitchFamily="34" charset="0"/>
                <a:ea typeface="Times New Roman" panose="02020603050405020304" pitchFamily="18" charset="0"/>
                <a:cs typeface="Segoe UI" panose="020B0502040204020203" pitchFamily="34" charset="0"/>
              </a:rPr>
              <a:t>Implementación piloto</a:t>
            </a:r>
            <a:endParaRPr lang="en-US"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70" name="CuadroTexto 1469">
            <a:extLst>
              <a:ext uri="{FF2B5EF4-FFF2-40B4-BE49-F238E27FC236}">
                <a16:creationId xmlns:a16="http://schemas.microsoft.com/office/drawing/2014/main" id="{845BCD2F-D4AE-0FE9-4700-4F578BADA67A}"/>
              </a:ext>
            </a:extLst>
          </p:cNvPr>
          <p:cNvSpPr txBox="1"/>
          <p:nvPr/>
        </p:nvSpPr>
        <p:spPr>
          <a:xfrm>
            <a:off x="22370768" y="28613559"/>
            <a:ext cx="2884859" cy="461665"/>
          </a:xfrm>
          <a:prstGeom prst="rect">
            <a:avLst/>
          </a:prstGeom>
          <a:noFill/>
          <a:ln>
            <a:noFill/>
          </a:ln>
        </p:spPr>
        <p:txBody>
          <a:bodyPr wrap="square">
            <a:spAutoFit/>
          </a:bodyPr>
          <a:lstStyle/>
          <a:p>
            <a:pPr algn="ctr"/>
            <a:r>
              <a:rPr lang="es-MX" sz="2400" b="1" dirty="0">
                <a:latin typeface="Segoe UI" panose="020B0502040204020203" pitchFamily="34" charset="0"/>
                <a:ea typeface="Times New Roman" panose="02020603050405020304" pitchFamily="18" charset="0"/>
                <a:cs typeface="Segoe UI" panose="020B0502040204020203" pitchFamily="34" charset="0"/>
              </a:rPr>
              <a:t>Fase 5: Evaluación</a:t>
            </a:r>
            <a:endParaRPr lang="en-US"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71" name="CuadroTexto 1470">
            <a:extLst>
              <a:ext uri="{FF2B5EF4-FFF2-40B4-BE49-F238E27FC236}">
                <a16:creationId xmlns:a16="http://schemas.microsoft.com/office/drawing/2014/main" id="{C5C84CC8-5689-9957-3596-6D9402112304}"/>
              </a:ext>
            </a:extLst>
          </p:cNvPr>
          <p:cNvSpPr txBox="1"/>
          <p:nvPr/>
        </p:nvSpPr>
        <p:spPr>
          <a:xfrm>
            <a:off x="17252677" y="30008262"/>
            <a:ext cx="3572893" cy="1569660"/>
          </a:xfrm>
          <a:prstGeom prst="rect">
            <a:avLst/>
          </a:prstGeom>
          <a:noFill/>
          <a:ln>
            <a:noFill/>
          </a:ln>
        </p:spPr>
        <p:txBody>
          <a:bodyPr wrap="square">
            <a:spAutoFit/>
          </a:bodyPr>
          <a:lstStyle/>
          <a:p>
            <a:pPr algn="ctr"/>
            <a:r>
              <a:rPr lang="es-MX" sz="3200" dirty="0"/>
              <a:t>Aplicación en simulación clínica con estudiantes.</a:t>
            </a:r>
            <a:endParaRPr lang="en-US" sz="2400"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73" name="CuadroTexto 1472">
            <a:extLst>
              <a:ext uri="{FF2B5EF4-FFF2-40B4-BE49-F238E27FC236}">
                <a16:creationId xmlns:a16="http://schemas.microsoft.com/office/drawing/2014/main" id="{3AD26890-1E51-2E37-0CE5-FAFDB4177103}"/>
              </a:ext>
            </a:extLst>
          </p:cNvPr>
          <p:cNvSpPr txBox="1"/>
          <p:nvPr/>
        </p:nvSpPr>
        <p:spPr>
          <a:xfrm>
            <a:off x="21410668" y="29854099"/>
            <a:ext cx="4805061" cy="1569660"/>
          </a:xfrm>
          <a:prstGeom prst="rect">
            <a:avLst/>
          </a:prstGeom>
          <a:noFill/>
          <a:ln>
            <a:noFill/>
          </a:ln>
        </p:spPr>
        <p:txBody>
          <a:bodyPr wrap="square">
            <a:spAutoFit/>
          </a:bodyPr>
          <a:lstStyle/>
          <a:p>
            <a:pPr algn="ctr"/>
            <a:r>
              <a:rPr lang="es-MX" sz="3200" dirty="0"/>
              <a:t>Análisis cuantitativo (consistencia, fiabilidad) y cualitativo (percepción).</a:t>
            </a:r>
            <a:endParaRPr lang="en-US" sz="2400" b="1" dirty="0">
              <a:latin typeface="Segoe UI" panose="020B0502040204020203" pitchFamily="34" charset="0"/>
              <a:ea typeface="Times New Roman" panose="02020603050405020304" pitchFamily="18" charset="0"/>
              <a:cs typeface="Segoe UI" panose="020B0502040204020203" pitchFamily="34" charset="0"/>
            </a:endParaRPr>
          </a:p>
        </p:txBody>
      </p:sp>
      <p:sp>
        <p:nvSpPr>
          <p:cNvPr id="1477" name="Rectángulo 1476">
            <a:extLst>
              <a:ext uri="{FF2B5EF4-FFF2-40B4-BE49-F238E27FC236}">
                <a16:creationId xmlns:a16="http://schemas.microsoft.com/office/drawing/2014/main" id="{7F4A585F-DB17-9E81-B1B1-6E14F7F8C2C7}"/>
              </a:ext>
            </a:extLst>
          </p:cNvPr>
          <p:cNvSpPr/>
          <p:nvPr/>
        </p:nvSpPr>
        <p:spPr>
          <a:xfrm>
            <a:off x="1142057" y="25861747"/>
            <a:ext cx="26360251" cy="7413953"/>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dirty="0"/>
          </a:p>
        </p:txBody>
      </p:sp>
      <p:sp>
        <p:nvSpPr>
          <p:cNvPr id="1415" name="Rectángulo 1414">
            <a:extLst>
              <a:ext uri="{FF2B5EF4-FFF2-40B4-BE49-F238E27FC236}">
                <a16:creationId xmlns:a16="http://schemas.microsoft.com/office/drawing/2014/main" id="{85134198-7D04-A4EC-0164-2BE2BBCE5F15}"/>
              </a:ext>
            </a:extLst>
          </p:cNvPr>
          <p:cNvSpPr/>
          <p:nvPr/>
        </p:nvSpPr>
        <p:spPr>
          <a:xfrm>
            <a:off x="1141702" y="227096"/>
            <a:ext cx="26339588" cy="8113849"/>
          </a:xfrm>
          <a:prstGeom prst="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524"/>
          </a:p>
        </p:txBody>
      </p:sp>
      <p:cxnSp>
        <p:nvCxnSpPr>
          <p:cNvPr id="14" name="Conector recto 13">
            <a:extLst>
              <a:ext uri="{FF2B5EF4-FFF2-40B4-BE49-F238E27FC236}">
                <a16:creationId xmlns:a16="http://schemas.microsoft.com/office/drawing/2014/main" id="{A5D93839-57A6-AA9B-A03A-CC83E5B1E432}"/>
              </a:ext>
            </a:extLst>
          </p:cNvPr>
          <p:cNvCxnSpPr>
            <a:cxnSpLocks/>
          </p:cNvCxnSpPr>
          <p:nvPr/>
        </p:nvCxnSpPr>
        <p:spPr>
          <a:xfrm flipH="1" flipV="1">
            <a:off x="14504952" y="27480146"/>
            <a:ext cx="9540" cy="10012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5B5D3B8D-12DB-DFB7-7FA8-E5F5ABF52F98}"/>
              </a:ext>
            </a:extLst>
          </p:cNvPr>
          <p:cNvCxnSpPr>
            <a:cxnSpLocks/>
          </p:cNvCxnSpPr>
          <p:nvPr/>
        </p:nvCxnSpPr>
        <p:spPr>
          <a:xfrm flipH="1" flipV="1">
            <a:off x="9587662" y="27922705"/>
            <a:ext cx="1" cy="5460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77522837-5DD6-9492-3E26-8D2FF6331729}"/>
              </a:ext>
            </a:extLst>
          </p:cNvPr>
          <p:cNvCxnSpPr>
            <a:cxnSpLocks/>
          </p:cNvCxnSpPr>
          <p:nvPr/>
        </p:nvCxnSpPr>
        <p:spPr>
          <a:xfrm flipV="1">
            <a:off x="4501406" y="27885108"/>
            <a:ext cx="0" cy="5765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5972950E-609B-31BE-786C-83B9EF21780D}"/>
              </a:ext>
            </a:extLst>
          </p:cNvPr>
          <p:cNvSpPr txBox="1"/>
          <p:nvPr/>
        </p:nvSpPr>
        <p:spPr>
          <a:xfrm>
            <a:off x="2288699" y="36199115"/>
            <a:ext cx="24327094" cy="2123658"/>
          </a:xfrm>
          <a:prstGeom prst="rect">
            <a:avLst/>
          </a:prstGeom>
          <a:solidFill>
            <a:schemeClr val="bg1"/>
          </a:solidFill>
          <a:ln>
            <a:noFill/>
          </a:ln>
        </p:spPr>
        <p:txBody>
          <a:bodyPr wrap="square">
            <a:spAutoFit/>
          </a:bodyPr>
          <a:lstStyle/>
          <a:p>
            <a:pPr algn="just"/>
            <a:endParaRPr lang="en-US" sz="24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pPr lvl="1" algn="just"/>
            <a:r>
              <a:rPr lang="es-ES" sz="3600" dirty="0"/>
              <a:t>El proyecto entregará un </a:t>
            </a:r>
            <a:r>
              <a:rPr lang="es-ES" sz="3600" b="1" dirty="0"/>
              <a:t>aplicativo basado en IA validado</a:t>
            </a:r>
            <a:r>
              <a:rPr lang="es-ES" sz="3600" dirty="0"/>
              <a:t> y un </a:t>
            </a:r>
            <a:r>
              <a:rPr lang="es-ES" sz="3600" b="1" dirty="0"/>
              <a:t>protocolo institucional</a:t>
            </a:r>
            <a:r>
              <a:rPr lang="es-ES" sz="3600" dirty="0"/>
              <a:t> para la evaluación clínica. Como productos de conocimiento, se generará un </a:t>
            </a:r>
            <a:r>
              <a:rPr lang="es-ES" sz="3600" b="1" dirty="0"/>
              <a:t>artículo científico</a:t>
            </a:r>
            <a:r>
              <a:rPr lang="es-ES" sz="3600" dirty="0"/>
              <a:t>, un </a:t>
            </a:r>
            <a:r>
              <a:rPr lang="es-ES" sz="3600" b="1" dirty="0"/>
              <a:t>informe técnico</a:t>
            </a:r>
            <a:r>
              <a:rPr lang="es-ES" sz="3600" dirty="0"/>
              <a:t>, </a:t>
            </a:r>
            <a:r>
              <a:rPr lang="es-ES" sz="3600" b="1" dirty="0"/>
              <a:t>material formativo</a:t>
            </a:r>
            <a:r>
              <a:rPr lang="es-ES" sz="3600" dirty="0"/>
              <a:t> y la </a:t>
            </a:r>
            <a:r>
              <a:rPr lang="es-ES" sz="3600" b="1" dirty="0"/>
              <a:t>formación de talento humano</a:t>
            </a:r>
            <a:r>
              <a:rPr lang="es-ES" sz="3600" dirty="0"/>
              <a:t> mediante procesos de grado.</a:t>
            </a:r>
            <a:endParaRPr lang="es-MX" sz="3600" dirty="0"/>
          </a:p>
        </p:txBody>
      </p:sp>
      <p:cxnSp>
        <p:nvCxnSpPr>
          <p:cNvPr id="46" name="Conector recto 45">
            <a:extLst>
              <a:ext uri="{FF2B5EF4-FFF2-40B4-BE49-F238E27FC236}">
                <a16:creationId xmlns:a16="http://schemas.microsoft.com/office/drawing/2014/main" id="{6B25D4D0-10D6-26A0-A75A-710C32D533F6}"/>
              </a:ext>
            </a:extLst>
          </p:cNvPr>
          <p:cNvCxnSpPr>
            <a:cxnSpLocks/>
          </p:cNvCxnSpPr>
          <p:nvPr/>
        </p:nvCxnSpPr>
        <p:spPr>
          <a:xfrm flipH="1" flipV="1">
            <a:off x="18923817" y="27960302"/>
            <a:ext cx="1" cy="6626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8F994BD0-D774-20E5-92A8-0882E74CC5D5}"/>
              </a:ext>
            </a:extLst>
          </p:cNvPr>
          <p:cNvCxnSpPr>
            <a:cxnSpLocks/>
          </p:cNvCxnSpPr>
          <p:nvPr/>
        </p:nvCxnSpPr>
        <p:spPr>
          <a:xfrm flipH="1" flipV="1">
            <a:off x="23813199" y="27954315"/>
            <a:ext cx="1" cy="5979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596CB395-9F1E-A912-143A-FDA8E1AD8F6E}"/>
              </a:ext>
            </a:extLst>
          </p:cNvPr>
          <p:cNvSpPr txBox="1"/>
          <p:nvPr/>
        </p:nvSpPr>
        <p:spPr>
          <a:xfrm>
            <a:off x="3958269" y="34695018"/>
            <a:ext cx="7333653" cy="1569660"/>
          </a:xfrm>
          <a:prstGeom prst="rect">
            <a:avLst/>
          </a:prstGeom>
          <a:noFill/>
          <a:ln>
            <a:noFill/>
          </a:ln>
        </p:spPr>
        <p:txBody>
          <a:bodyPr wrap="square">
            <a:spAutoFit/>
          </a:bodyPr>
          <a:lstStyle/>
          <a:p>
            <a:endParaRPr lang="en-US" sz="24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pPr marL="1028700" lvl="1" indent="-571500">
              <a:buFont typeface="Arial" panose="020B0604020202020204" pitchFamily="34" charset="0"/>
              <a:buChar char="•"/>
            </a:pPr>
            <a:r>
              <a:rPr lang="es-MX" sz="3600" dirty="0"/>
              <a:t>Aplicativo validado.</a:t>
            </a:r>
          </a:p>
          <a:p>
            <a:pPr marL="1028700" lvl="1" indent="-571500">
              <a:buFont typeface="Arial" panose="020B0604020202020204" pitchFamily="34" charset="0"/>
              <a:buChar char="•"/>
            </a:pPr>
            <a:r>
              <a:rPr lang="es-MX" sz="3600" dirty="0"/>
              <a:t>Protocolo institucional.</a:t>
            </a:r>
          </a:p>
        </p:txBody>
      </p:sp>
      <p:sp>
        <p:nvSpPr>
          <p:cNvPr id="54" name="CuadroTexto 53">
            <a:extLst>
              <a:ext uri="{FF2B5EF4-FFF2-40B4-BE49-F238E27FC236}">
                <a16:creationId xmlns:a16="http://schemas.microsoft.com/office/drawing/2014/main" id="{F953F790-CE5A-94FF-12DA-B634476386A4}"/>
              </a:ext>
            </a:extLst>
          </p:cNvPr>
          <p:cNvSpPr txBox="1"/>
          <p:nvPr/>
        </p:nvSpPr>
        <p:spPr>
          <a:xfrm>
            <a:off x="11291922" y="34695018"/>
            <a:ext cx="7333653" cy="1569660"/>
          </a:xfrm>
          <a:prstGeom prst="rect">
            <a:avLst/>
          </a:prstGeom>
          <a:noFill/>
          <a:ln>
            <a:noFill/>
          </a:ln>
        </p:spPr>
        <p:txBody>
          <a:bodyPr wrap="square">
            <a:spAutoFit/>
          </a:bodyPr>
          <a:lstStyle/>
          <a:p>
            <a:endParaRPr lang="en-US" sz="24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pPr marL="1028700" lvl="1" indent="-571500">
              <a:buFont typeface="Arial" panose="020B0604020202020204" pitchFamily="34" charset="0"/>
              <a:buChar char="•"/>
            </a:pPr>
            <a:r>
              <a:rPr lang="es-MX" sz="3600" dirty="0"/>
              <a:t>Artículo científico.</a:t>
            </a:r>
          </a:p>
          <a:p>
            <a:pPr marL="1028700" lvl="1" indent="-571500">
              <a:buFont typeface="Arial" panose="020B0604020202020204" pitchFamily="34" charset="0"/>
              <a:buChar char="•"/>
            </a:pPr>
            <a:r>
              <a:rPr lang="es-MX" sz="3600" dirty="0"/>
              <a:t>Informe técnico.</a:t>
            </a:r>
          </a:p>
        </p:txBody>
      </p:sp>
      <p:sp>
        <p:nvSpPr>
          <p:cNvPr id="56" name="CuadroTexto 55">
            <a:extLst>
              <a:ext uri="{FF2B5EF4-FFF2-40B4-BE49-F238E27FC236}">
                <a16:creationId xmlns:a16="http://schemas.microsoft.com/office/drawing/2014/main" id="{0A626E2A-6606-FC06-6DF3-476183C12916}"/>
              </a:ext>
            </a:extLst>
          </p:cNvPr>
          <p:cNvSpPr txBox="1"/>
          <p:nvPr/>
        </p:nvSpPr>
        <p:spPr>
          <a:xfrm>
            <a:off x="17508503" y="34731529"/>
            <a:ext cx="7333653" cy="1569660"/>
          </a:xfrm>
          <a:prstGeom prst="rect">
            <a:avLst/>
          </a:prstGeom>
          <a:noFill/>
          <a:ln>
            <a:noFill/>
          </a:ln>
        </p:spPr>
        <p:txBody>
          <a:bodyPr wrap="square">
            <a:spAutoFit/>
          </a:bodyPr>
          <a:lstStyle/>
          <a:p>
            <a:endParaRPr lang="en-US" sz="24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a:p>
            <a:pPr marL="1028700" lvl="1" indent="-571500">
              <a:buFont typeface="Arial" panose="020B0604020202020204" pitchFamily="34" charset="0"/>
              <a:buChar char="•"/>
            </a:pPr>
            <a:r>
              <a:rPr lang="es-MX" sz="3600" dirty="0"/>
              <a:t>Material formativo.</a:t>
            </a:r>
          </a:p>
          <a:p>
            <a:pPr marL="1028700" lvl="1" indent="-571500">
              <a:buFont typeface="Arial" panose="020B0604020202020204" pitchFamily="34" charset="0"/>
              <a:buChar char="•"/>
            </a:pPr>
            <a:r>
              <a:rPr lang="es-MX" sz="3600" dirty="0"/>
              <a:t>Formación de talento humano.</a:t>
            </a:r>
            <a:endParaRPr lang="en-US" sz="3600" b="1" dirty="0">
              <a:solidFill>
                <a:srgbClr val="000000"/>
              </a:solidFill>
              <a:latin typeface="Segoe UI" panose="020B0502040204020203" pitchFamily="34" charset="0"/>
              <a:ea typeface="Times New Roman" panose="02020603050405020304" pitchFamily="18" charset="0"/>
              <a:cs typeface="Segoe UI" panose="020B0502040204020203" pitchFamily="34" charset="0"/>
            </a:endParaRPr>
          </a:p>
        </p:txBody>
      </p:sp>
    </p:spTree>
    <p:extLst>
      <p:ext uri="{BB962C8B-B14F-4D97-AF65-F5344CB8AC3E}">
        <p14:creationId xmlns:p14="http://schemas.microsoft.com/office/powerpoint/2010/main" val="328212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10" grpId="0" animBg="1"/>
      <p:bldP spid="37" grpId="0" animBg="1"/>
      <p:bldP spid="27" grpId="0" animBg="1"/>
    </p:bldLst>
  </p:timing>
</p:sld>
</file>

<file path=ppt/theme/theme1.xml><?xml version="1.0" encoding="utf-8"?>
<a:theme xmlns:a="http://schemas.openxmlformats.org/drawingml/2006/main" name="Office 2013 - Tema de 2022">
  <a:themeElements>
    <a:clrScheme name="Office 2013 - Tema de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Tema de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de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2638</TotalTime>
  <Words>815</Words>
  <Application>Microsoft Office PowerPoint</Application>
  <PresentationFormat>Personalizado</PresentationFormat>
  <Paragraphs>64</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Calibri Light</vt:lpstr>
      <vt:lpstr>Segoe UI</vt:lpstr>
      <vt:lpstr>Office 2013 - Tema de 2022</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Ana Cristina Mafla Chamorro</dc:creator>
  <cp:lastModifiedBy>Maria Victoria Arteaga Revelo</cp:lastModifiedBy>
  <cp:revision>156</cp:revision>
  <dcterms:created xsi:type="dcterms:W3CDTF">2024-02-01T17:05:04Z</dcterms:created>
  <dcterms:modified xsi:type="dcterms:W3CDTF">2026-03-25T21:38:15Z</dcterms:modified>
</cp:coreProperties>
</file>